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hdeOKD8r9jl/Ms5eOLqdgLWYAS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06B276E-F00D-4556-BE51-A25EFD849AE3}">
  <a:tblStyle styleId="{306B276E-F00D-4556-BE51-A25EFD849AE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2" d="100"/>
          <a:sy n="132" d="100"/>
        </p:scale>
        <p:origin x="132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5" name="Google Shape;285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5" name="Google Shape;315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4" name="Google Shape;344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4" name="Google Shape;384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4" name="Google Shape;414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6" name="Google Shape;446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1" name="Google Shape;471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1" name="Google Shape;531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ConceptLab/ocl_issues/milestone/51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penConceptLab/ocl_issues/milestone/57" TargetMode="External"/><Relationship Id="rId5" Type="http://schemas.openxmlformats.org/officeDocument/2006/relationships/hyperlink" Target="https://github.com/OpenConceptLab/ocl_issues/milestone/55" TargetMode="External"/><Relationship Id="rId4" Type="http://schemas.openxmlformats.org/officeDocument/2006/relationships/hyperlink" Target="https://github.com/OpenConceptLab/ocl_issues/milestone/59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ConceptLab/ocl_issues/milestone/52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OpenConceptLab/ocl_issues/milestone/58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B5E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8C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2EC4B6"/>
          </a:solidFill>
          <a:ln w="127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548640" y="73152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CIEL-OCL 2026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548640" y="1325880"/>
            <a:ext cx="77724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Midpoint Pulse Check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548640" y="25603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600"/>
              <a:buFont typeface="Calibri"/>
              <a:buNone/>
            </a:pPr>
            <a:r>
              <a:rPr lang="en-US" sz="1600" i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Where we stand · What's shipping · What needs alignment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48640" y="43891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May 7, 2026  ·  OCL Team Review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583680" y="4251960"/>
            <a:ext cx="2103120" cy="548640"/>
          </a:xfrm>
          <a:prstGeom prst="rect">
            <a:avLst/>
          </a:prstGeom>
          <a:solidFill>
            <a:srgbClr val="0A7E8C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583680" y="425196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13 of 26  ·  ~50%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B5E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1B2B5E"/>
                </a:solidFill>
                <a:latin typeface="Calibri"/>
                <a:ea typeface="Calibri"/>
                <a:cs typeface="Calibri"/>
                <a:sym typeface="Calibri"/>
              </a:rPr>
              <a:t>What We Set Out to Do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6-month SOW · February – July 2026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274320" y="1143000"/>
            <a:ext cx="3931920" cy="160020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274320" y="1143000"/>
            <a:ext cx="201168" cy="1600200"/>
          </a:xfrm>
          <a:prstGeom prst="rect">
            <a:avLst/>
          </a:prstGeom>
          <a:solidFill>
            <a:srgbClr val="0A7E8C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3383280" y="1188720"/>
            <a:ext cx="731520" cy="347472"/>
          </a:xfrm>
          <a:prstGeom prst="rect">
            <a:avLst/>
          </a:prstGeom>
          <a:solidFill>
            <a:srgbClr val="0A7E8C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3383280" y="1188720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40" y="121615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CIEL Bridge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48640" y="1600200"/>
            <a:ext cx="35661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CIEL as bridge terminology to ICD-11, LOINC &amp; others.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Multi-algorithm matching + AI assistant integration.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572000" y="1143000"/>
            <a:ext cx="3931920" cy="160020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572000" y="1143000"/>
            <a:ext cx="201168" cy="1600200"/>
          </a:xfrm>
          <a:prstGeom prst="rect">
            <a:avLst/>
          </a:prstGeom>
          <a:solidFill>
            <a:srgbClr val="1B2B5E"/>
          </a:solidFill>
          <a:ln w="12700" cap="flat" cmpd="sng">
            <a:solidFill>
              <a:srgbClr val="1B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680960" y="1188720"/>
            <a:ext cx="731520" cy="347472"/>
          </a:xfrm>
          <a:prstGeom prst="rect">
            <a:avLst/>
          </a:prstGeom>
          <a:solidFill>
            <a:srgbClr val="1B2B5E"/>
          </a:solidFill>
          <a:ln w="12700" cap="flat" cmpd="sng">
            <a:solidFill>
              <a:srgbClr val="1B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680960" y="1188720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846320" y="121615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CIEL Source Management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846320" y="1600200"/>
            <a:ext cx="35661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CIEL managed in CIEL Lab v2 + OCL TBv3.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Release pipeline, QA workflows, CIEL Admin retirement.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274320" y="2971800"/>
            <a:ext cx="3931920" cy="160020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274320" y="2971800"/>
            <a:ext cx="201168" cy="1600200"/>
          </a:xfrm>
          <a:prstGeom prst="rect">
            <a:avLst/>
          </a:prstGeom>
          <a:solidFill>
            <a:srgbClr val="0D6EFD"/>
          </a:solidFill>
          <a:ln w="127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383280" y="3017520"/>
            <a:ext cx="731520" cy="347472"/>
          </a:xfrm>
          <a:prstGeom prst="rect">
            <a:avLst/>
          </a:prstGeom>
          <a:solidFill>
            <a:srgbClr val="0D6EFD"/>
          </a:solidFill>
          <a:ln w="127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383280" y="3017520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45%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48640" y="304495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CIEL + OpenMRS Implementers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48640" y="3429000"/>
            <a:ext cx="35661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TBv3 collection management, concept proposals.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Mapper team-based workflows &amp; dictionary building.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572000" y="2971800"/>
            <a:ext cx="3931920" cy="160020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572000" y="2971800"/>
            <a:ext cx="201168" cy="160020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680960" y="3017520"/>
            <a:ext cx="731520" cy="347472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7680960" y="3017520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846320" y="304495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CIEL Content Curation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846320" y="3429000"/>
            <a:ext cx="35661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QA review of ~15k remaining CIEL concepts.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Naming, mappings, AI-assisted curation workflows.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B5E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1B2B5E"/>
                </a:solidFill>
                <a:latin typeface="Calibri"/>
                <a:ea typeface="Calibri"/>
                <a:cs typeface="Calibri"/>
                <a:sym typeface="Calibri"/>
              </a:rPr>
              <a:t>Milestone Tracker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65760" y="56692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Each milestone = a showcase demo that proves the capability is real and working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65760" y="868680"/>
            <a:ext cx="164592" cy="164592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66928" y="85039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✅  Closed / Complete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2514600" y="868680"/>
            <a:ext cx="164592" cy="164592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2715768" y="85039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🔄  Open — In Progress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663440" y="868680"/>
            <a:ext cx="164592" cy="164592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864608" y="85039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❌  Overdue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812280" y="868680"/>
            <a:ext cx="164592" cy="164592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7013448" y="85039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⬜  Upcoming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82880" y="1115568"/>
            <a:ext cx="2103120" cy="256032"/>
          </a:xfrm>
          <a:prstGeom prst="rect">
            <a:avLst/>
          </a:prstGeom>
          <a:solidFill>
            <a:srgbClr val="0A7E8C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82880" y="111556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[CIEL Bridge]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2377440" y="1115568"/>
            <a:ext cx="2103120" cy="256032"/>
          </a:xfrm>
          <a:prstGeom prst="rect">
            <a:avLst/>
          </a:prstGeom>
          <a:solidFill>
            <a:srgbClr val="1B2B5E"/>
          </a:solidFill>
          <a:ln w="12700" cap="flat" cmpd="sng">
            <a:solidFill>
              <a:srgbClr val="1B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2377440" y="111556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[CIEL Source Mgmt]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572000" y="1115568"/>
            <a:ext cx="2103120" cy="256032"/>
          </a:xfrm>
          <a:prstGeom prst="rect">
            <a:avLst/>
          </a:prstGeom>
          <a:solidFill>
            <a:srgbClr val="0D6EFD"/>
          </a:solidFill>
          <a:ln w="127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572000" y="111556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[CIEL Implementers]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766560" y="1115568"/>
            <a:ext cx="2103120" cy="256032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766560" y="111556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[CIEL Content]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82880" y="1426464"/>
            <a:ext cx="2103120" cy="594360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246888" y="1481328"/>
            <a:ext cx="118872" cy="118872"/>
          </a:xfrm>
          <a:prstGeom prst="ellipse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554480" y="1453896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Feb 26 ✅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246888" y="1591056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ICD11 Technical Demo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E2E Workflow (#41)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246888" y="1874520"/>
            <a:ext cx="197510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20/20 closed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182880" y="2084832"/>
            <a:ext cx="2103120" cy="594360"/>
          </a:xfrm>
          <a:prstGeom prst="rect">
            <a:avLst/>
          </a:prstGeom>
          <a:solidFill>
            <a:srgbClr val="FEF2F2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246888" y="2139696"/>
            <a:ext cx="118872" cy="118872"/>
          </a:xfrm>
          <a:prstGeom prst="ellipse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554480" y="2112264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Apr 2 🔴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246888" y="2249424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ICD11 E2E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pre-pub dataset (#51)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246888" y="2532888"/>
            <a:ext cx="197510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0% · 0c/13o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82880" y="2743200"/>
            <a:ext cx="2103120" cy="594360"/>
          </a:xfrm>
          <a:prstGeom prst="rect">
            <a:avLst/>
          </a:prstGeom>
          <a:solidFill>
            <a:srgbClr val="FFFBEB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246888" y="2798064"/>
            <a:ext cx="118872" cy="118872"/>
          </a:xfrm>
          <a:prstGeom prst="ellipse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1554480" y="2770632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May 7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246888" y="2907792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ICD11 E2E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evaluation dataset (#59)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246888" y="3191256"/>
            <a:ext cx="197510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25% · 1c/3o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182880" y="3401568"/>
            <a:ext cx="2103120" cy="594360"/>
          </a:xfrm>
          <a:prstGeom prst="rect">
            <a:avLst/>
          </a:prstGeom>
          <a:solidFill>
            <a:srgbClr val="FFFBEB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246888" y="3456432"/>
            <a:ext cx="118872" cy="118872"/>
          </a:xfrm>
          <a:prstGeom prst="ellipse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1554480" y="3429000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May 28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246888" y="3566160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ICD11 E2E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country dataset (#55)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246888" y="3849624"/>
            <a:ext cx="197510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50% · 1c/1o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182880" y="4059936"/>
            <a:ext cx="2103120" cy="59436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246888" y="4114800"/>
            <a:ext cx="118872" cy="118872"/>
          </a:xfrm>
          <a:prstGeom prst="ellipse">
            <a:avLst/>
          </a:prstGeom>
          <a:solidFill>
            <a:srgbClr val="D1D5DB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1554480" y="4087368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Jun 11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246888" y="4224528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CIEL Bridge Showcase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all target repos (#57)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246888" y="4507992"/>
            <a:ext cx="197510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 open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2377440" y="1426464"/>
            <a:ext cx="2103120" cy="594360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2441448" y="1481328"/>
            <a:ext cx="118872" cy="118872"/>
          </a:xfrm>
          <a:prstGeom prst="ellipse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3749040" y="1453896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Mar 5 ✅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2441448" y="1591056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CIEL Lab v2 Concept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Manager — Filipe (#48)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2441448" y="1874520"/>
            <a:ext cx="197510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5/5 closed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2377440" y="2084832"/>
            <a:ext cx="2103120" cy="594360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2441448" y="2139696"/>
            <a:ext cx="118872" cy="118872"/>
          </a:xfrm>
          <a:prstGeom prst="ellipse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3749040" y="2112264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Mar 19 ✅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2441448" y="2249424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CIEL Lab v2 Mock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E2E — Andy (#49)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2441448" y="2532888"/>
            <a:ext cx="197510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22/23 closed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2377440" y="2743200"/>
            <a:ext cx="2103120" cy="594360"/>
          </a:xfrm>
          <a:prstGeom prst="rect">
            <a:avLst/>
          </a:prstGeom>
          <a:solidFill>
            <a:srgbClr val="FEF2F2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2441448" y="2798064"/>
            <a:ext cx="118872" cy="118872"/>
          </a:xfrm>
          <a:prstGeom prst="ellipse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3749040" y="2770632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Apr 2 🔴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2441448" y="2907792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CIEL Source Mgmt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QA Workflows (#53)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2441448" y="3191256"/>
            <a:ext cx="197510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0% · 0c/5o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2377440" y="3401568"/>
            <a:ext cx="2103120" cy="59436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2441448" y="3456432"/>
            <a:ext cx="118872" cy="118872"/>
          </a:xfrm>
          <a:prstGeom prst="ellipse">
            <a:avLst/>
          </a:prstGeom>
          <a:solidFill>
            <a:srgbClr val="D1D5DB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3749040" y="3429000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May 7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2441448" y="3566160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CIEL Release E2E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Filipe leads (#54)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2441448" y="3849624"/>
            <a:ext cx="197510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Due today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2377440" y="4059936"/>
            <a:ext cx="2103120" cy="59436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2441448" y="4114800"/>
            <a:ext cx="118872" cy="118872"/>
          </a:xfrm>
          <a:prstGeom prst="ellipse">
            <a:avLst/>
          </a:prstGeom>
          <a:solidFill>
            <a:srgbClr val="D1D5DB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3749040" y="4087368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Jun 11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2441448" y="4224528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Real-life CIEL Release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in CIEL Labs v2 (#56)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2441448" y="4507992"/>
            <a:ext cx="197510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 issues yet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4572000" y="1426464"/>
            <a:ext cx="2103120" cy="594360"/>
          </a:xfrm>
          <a:prstGeom prst="rect">
            <a:avLst/>
          </a:prstGeom>
          <a:solidFill>
            <a:srgbClr val="FFFBEB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4636008" y="1481328"/>
            <a:ext cx="118872" cy="118872"/>
          </a:xfrm>
          <a:prstGeom prst="ellipse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5943600" y="1453896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May 7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4636008" y="1591056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Collection &amp; Ref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Creation E2E (#42)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4636008" y="1874520"/>
            <a:ext cx="197510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53% · 14c/12o – Due today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4572000" y="2084832"/>
            <a:ext cx="2103120" cy="59436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4636008" y="2139696"/>
            <a:ext cx="118872" cy="118872"/>
          </a:xfrm>
          <a:prstGeom prst="ellipse">
            <a:avLst/>
          </a:prstGeom>
          <a:solidFill>
            <a:srgbClr val="D1D5DB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5943600" y="2112264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May 15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4636008" y="2249424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Team-based Mapping &amp;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Left Panel (#43)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4636008" y="2532888"/>
            <a:ext cx="197510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Not yet scheduled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4572000" y="2743200"/>
            <a:ext cx="2103120" cy="59436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4636008" y="2798064"/>
            <a:ext cx="118872" cy="118872"/>
          </a:xfrm>
          <a:prstGeom prst="ellipse">
            <a:avLst/>
          </a:prstGeom>
          <a:solidFill>
            <a:srgbClr val="D1D5DB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5943600" y="2770632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May 15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4636008" y="2907792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Collection Maintenance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+ CIEL Release (#44)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4636008" y="3191256"/>
            <a:ext cx="197510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Not yet scheduled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4572000" y="3401568"/>
            <a:ext cx="2103120" cy="59436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4636008" y="3456432"/>
            <a:ext cx="118872" cy="118872"/>
          </a:xfrm>
          <a:prstGeom prst="ellipse">
            <a:avLst/>
          </a:prstGeom>
          <a:solidFill>
            <a:srgbClr val="D1D5DB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5943600" y="3429000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May 29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4636008" y="3566160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Concept Proposals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E2E (#45)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4636008" y="3849624"/>
            <a:ext cx="197510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0% · 0c/4o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4572000" y="4059936"/>
            <a:ext cx="2103120" cy="59436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4636008" y="4114800"/>
            <a:ext cx="118872" cy="118872"/>
          </a:xfrm>
          <a:prstGeom prst="ellipse">
            <a:avLst/>
          </a:prstGeom>
          <a:solidFill>
            <a:srgbClr val="D1D5DB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5943600" y="4087368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Jun 26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4636008" y="4224528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Mapping Decision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Memory (#46)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4636008" y="4507992"/>
            <a:ext cx="197510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0% · 0c/3o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6766560" y="1426464"/>
            <a:ext cx="2103120" cy="594360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6830568" y="1481328"/>
            <a:ext cx="118872" cy="118872"/>
          </a:xfrm>
          <a:prstGeom prst="ellipse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8138160" y="1453896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Apr 9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6830568" y="1591056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CIEL Content E2E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Technical Showcase (#52)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6830568" y="1874520"/>
            <a:ext cx="197510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0% · 0c/3o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6766560" y="2084832"/>
            <a:ext cx="2103120" cy="59436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6830568" y="2139696"/>
            <a:ext cx="118872" cy="118872"/>
          </a:xfrm>
          <a:prstGeom prst="ellipse">
            <a:avLst/>
          </a:prstGeom>
          <a:solidFill>
            <a:srgbClr val="D1D5DB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8138160" y="2112264"/>
            <a:ext cx="6858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Jun 25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6830568" y="2249424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Showcase Completed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CIEL Curation (#58)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6830568" y="2532888"/>
            <a:ext cx="1975104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 issues yet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182880" y="4736592"/>
            <a:ext cx="8778240" cy="292608"/>
          </a:xfrm>
          <a:prstGeom prst="rect">
            <a:avLst/>
          </a:prstGeom>
          <a:solidFill>
            <a:srgbClr val="1B2B5E"/>
          </a:solidFill>
          <a:ln w="12700" cap="flat" cmpd="sng">
            <a:solidFill>
              <a:srgbClr val="1B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274320" y="4736592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Summary:    ✅  3 closed    ❌  3 overdue (Apr 2–9)    🔄  3 in progress    ⬜  8 upcoming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5" name="Google Shape;165;p4"/>
          <p:cNvGraphicFramePr/>
          <p:nvPr/>
        </p:nvGraphicFramePr>
        <p:xfrm>
          <a:off x="1015637" y="287383"/>
          <a:ext cx="7112725" cy="4433025"/>
        </p:xfrm>
        <a:graphic>
          <a:graphicData uri="http://schemas.openxmlformats.org/drawingml/2006/table">
            <a:tbl>
              <a:tblPr>
                <a:noFill/>
                <a:tableStyleId>{306B276E-F00D-4556-BE51-A25EFD849AE3}</a:tableStyleId>
              </a:tblPr>
              <a:tblGrid>
                <a:gridCol w="33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6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9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45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4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9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3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59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/>
                        <a:t>#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/>
                        <a:t>Status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/>
                        <a:t>Bucket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/>
                        <a:t>Title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/>
                        <a:t>%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/>
                        <a:t>Due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/>
                        <a:t>Issues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41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✅ Closed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[CIEL Bridge]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ICD11 Technical Demo E2E Workflow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100%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Feb 26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20/20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42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🔄 In Progress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[CIEL Implementers]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Collection &amp; Reference Creation E2E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53%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Apr 30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14c/12o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43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⬜ Upcoming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[CIEL Implementers]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Team-based Mapping &amp; Left Panel E2E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?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TBD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—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44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⬜ Upcoming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[CIEL Implementers]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Collection Maintenance E2E (+ CIEL Release)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?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TBD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—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45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⬜ Upcoming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[CIEL Implementers]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Concept Proposals E2E Workflow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0%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May 29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0c/4o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46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⬜ Upcoming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[CIEL Implementers]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Mapping Decision Memory Showcase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0%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Jun 26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0c/3o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47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⬜ Upcoming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(Mapper)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Mapper Public Showcase — Wrap-up &amp; Release Prep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?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Jul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—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48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✅ Closed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[CIEL Source Mgmt]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CIEL Lab v2 Concept Manager — Filipe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100%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Mar 5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5/5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49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✅ Closed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[CIEL Source Mgmt]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CIEL Lab v2 Mock E2E — Andy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95%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Mar 19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22/23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51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🔴 Overdue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[CIEL Bridge]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ICD11 E2E on pre-publication dataset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0%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Apr 2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0c/13o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7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52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🔴 Overdue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[CIEL Content]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Showcase CIEL Content E2E Technical Workflow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0%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Apr 9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0c/3o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53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🔴 Overdue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[CIEL Source Mgmt]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CIEL Source Mgmt QA Workflows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0%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Apr 2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0c/5o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7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54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🔄 In Progress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[CIEL Source Mgmt]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CIEL Release E2E Workflow — Filipe leads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?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Apr 30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?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55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🔄 In Progress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[CIEL Bridge]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ICD11 E2E evaluation on country dataset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50%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May 28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1c/1o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0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56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⬜ Upcoming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[CIEL Source Mgmt]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Real-life CIEL Release using CIEL Labs v2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?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Jun 11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—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57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⬜ Upcoming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[CIEL Bridge]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CIEL Bridge Showcase (all target repos)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?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Jun 11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1o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40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58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⬜ Upcoming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[CIEL Content]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Showcase Completed CIEL Content Curation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0%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Jun 25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—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59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🔄 In Progress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[CIEL Bridge]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ICD11 E2E on evaluation dataset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25%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May 7</a:t>
                      </a:r>
                      <a:endParaRPr/>
                    </a:p>
                  </a:txBody>
                  <a:tcPr marL="11300" marR="11300" marT="5650" marB="56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strike="noStrike" cap="none"/>
                        <a:t>1c/3o</a:t>
                      </a:r>
                      <a:endParaRPr/>
                    </a:p>
                  </a:txBody>
                  <a:tcPr marL="11300" marR="11300" marT="5650" marB="5650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166" name="Google Shape;166;p4"/>
          <p:cNvSpPr/>
          <p:nvPr/>
        </p:nvSpPr>
        <p:spPr>
          <a:xfrm>
            <a:off x="1920239" y="4856117"/>
            <a:ext cx="512853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#50 was closed/merged into #41 per the closed milestones list, so it's omitted. Cells marked </a:t>
            </a:r>
            <a:r>
              <a:rPr lang="en-US" sz="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couldn't be confirmed from the fetches — worth a quick check on #43, #44, #47, #54, #56, #57.</a:t>
            </a: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3870554" y="0"/>
            <a:ext cx="12279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Cheat Sheet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"/>
          <p:cNvSpPr/>
          <p:nvPr/>
        </p:nvSpPr>
        <p:spPr>
          <a:xfrm>
            <a:off x="365760" y="91440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B5E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1B2B5E"/>
                </a:solidFill>
                <a:latin typeface="Calibri"/>
                <a:ea typeface="Calibri"/>
                <a:cs typeface="Calibri"/>
                <a:sym typeface="Calibri"/>
              </a:rPr>
              <a:t>SOW Timeline by Project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365760" y="502920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Feb–Jul 2026  ·  Milestones = ◆  ·  filled = complete or in progress  ·  ▲ = TODAY (Apr 29)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" name="Google Shape;175;p5"/>
          <p:cNvCxnSpPr/>
          <p:nvPr/>
        </p:nvCxnSpPr>
        <p:spPr>
          <a:xfrm>
            <a:off x="1417320" y="749808"/>
            <a:ext cx="0" cy="3931920"/>
          </a:xfrm>
          <a:prstGeom prst="straightConnector1">
            <a:avLst/>
          </a:prstGeom>
          <a:noFill/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6" name="Google Shape;176;p5"/>
          <p:cNvSpPr/>
          <p:nvPr/>
        </p:nvSpPr>
        <p:spPr>
          <a:xfrm>
            <a:off x="1234440" y="74980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Feb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5"/>
          <p:cNvCxnSpPr/>
          <p:nvPr/>
        </p:nvCxnSpPr>
        <p:spPr>
          <a:xfrm>
            <a:off x="2898648" y="749808"/>
            <a:ext cx="0" cy="3931920"/>
          </a:xfrm>
          <a:prstGeom prst="straightConnector1">
            <a:avLst/>
          </a:prstGeom>
          <a:noFill/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8" name="Google Shape;178;p5"/>
          <p:cNvSpPr/>
          <p:nvPr/>
        </p:nvSpPr>
        <p:spPr>
          <a:xfrm>
            <a:off x="2715768" y="74980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Mar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p5"/>
          <p:cNvCxnSpPr/>
          <p:nvPr/>
        </p:nvCxnSpPr>
        <p:spPr>
          <a:xfrm>
            <a:off x="4379976" y="749808"/>
            <a:ext cx="0" cy="3931920"/>
          </a:xfrm>
          <a:prstGeom prst="straightConnector1">
            <a:avLst/>
          </a:prstGeom>
          <a:noFill/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0" name="Google Shape;180;p5"/>
          <p:cNvSpPr/>
          <p:nvPr/>
        </p:nvSpPr>
        <p:spPr>
          <a:xfrm>
            <a:off x="4197096" y="74980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Apr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" name="Google Shape;181;p5"/>
          <p:cNvCxnSpPr/>
          <p:nvPr/>
        </p:nvCxnSpPr>
        <p:spPr>
          <a:xfrm>
            <a:off x="5861304" y="749808"/>
            <a:ext cx="0" cy="3931920"/>
          </a:xfrm>
          <a:prstGeom prst="straightConnector1">
            <a:avLst/>
          </a:prstGeom>
          <a:noFill/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2" name="Google Shape;182;p5"/>
          <p:cNvSpPr/>
          <p:nvPr/>
        </p:nvSpPr>
        <p:spPr>
          <a:xfrm>
            <a:off x="5678424" y="74980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May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" name="Google Shape;183;p5"/>
          <p:cNvCxnSpPr/>
          <p:nvPr/>
        </p:nvCxnSpPr>
        <p:spPr>
          <a:xfrm>
            <a:off x="7342632" y="749808"/>
            <a:ext cx="0" cy="3931920"/>
          </a:xfrm>
          <a:prstGeom prst="straightConnector1">
            <a:avLst/>
          </a:prstGeom>
          <a:noFill/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" name="Google Shape;184;p5"/>
          <p:cNvSpPr/>
          <p:nvPr/>
        </p:nvSpPr>
        <p:spPr>
          <a:xfrm>
            <a:off x="7159752" y="74980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Jun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5"/>
          <p:cNvCxnSpPr/>
          <p:nvPr/>
        </p:nvCxnSpPr>
        <p:spPr>
          <a:xfrm>
            <a:off x="8823960" y="749808"/>
            <a:ext cx="0" cy="3931920"/>
          </a:xfrm>
          <a:prstGeom prst="straightConnector1">
            <a:avLst/>
          </a:prstGeom>
          <a:noFill/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6" name="Google Shape;186;p5"/>
          <p:cNvSpPr/>
          <p:nvPr/>
        </p:nvSpPr>
        <p:spPr>
          <a:xfrm>
            <a:off x="8641080" y="74980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Jul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5"/>
          <p:cNvCxnSpPr/>
          <p:nvPr/>
        </p:nvCxnSpPr>
        <p:spPr>
          <a:xfrm>
            <a:off x="5757611" y="731520"/>
            <a:ext cx="0" cy="3977640"/>
          </a:xfrm>
          <a:prstGeom prst="straightConnector1">
            <a:avLst/>
          </a:prstGeom>
          <a:noFill/>
          <a:ln w="19050" cap="flat" cmpd="sng">
            <a:solidFill>
              <a:srgbClr val="DC2626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88" name="Google Shape;188;p5"/>
          <p:cNvSpPr/>
          <p:nvPr/>
        </p:nvSpPr>
        <p:spPr>
          <a:xfrm>
            <a:off x="5483291" y="566928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750"/>
              <a:buFont typeface="Calibri"/>
              <a:buNone/>
            </a:pPr>
            <a:r>
              <a:rPr lang="en-US" sz="75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▲ TODAY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91440" y="1005840"/>
            <a:ext cx="1261872" cy="749808"/>
          </a:xfrm>
          <a:prstGeom prst="rect">
            <a:avLst/>
          </a:prstGeom>
          <a:solidFill>
            <a:srgbClr val="0A7E8C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91440" y="1005840"/>
            <a:ext cx="1261872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CIEL Bridge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(15%)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1417320" y="1005840"/>
            <a:ext cx="7406640" cy="749808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1417320" y="1078992"/>
            <a:ext cx="1925726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1417320" y="1078992"/>
            <a:ext cx="1925726" cy="118872"/>
          </a:xfrm>
          <a:prstGeom prst="rect">
            <a:avLst/>
          </a:prstGeom>
          <a:solidFill>
            <a:srgbClr val="0A7E8C">
              <a:alpha val="80000"/>
            </a:srgbClr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1453896" y="1078992"/>
            <a:ext cx="1870862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ICD-11 source &amp; post-coord pipeline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1417320" y="1220724"/>
            <a:ext cx="3703320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1417320" y="1220724"/>
            <a:ext cx="2592324" cy="118872"/>
          </a:xfrm>
          <a:prstGeom prst="rect">
            <a:avLst/>
          </a:prstGeom>
          <a:solidFill>
            <a:srgbClr val="0A7E8C">
              <a:alpha val="80000"/>
            </a:srgbClr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1453896" y="1220724"/>
            <a:ext cx="3648456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Multi-algo matching (reranker, bridge)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3639312" y="1362456"/>
            <a:ext cx="2962656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3639312" y="1362456"/>
            <a:ext cx="888797" cy="118872"/>
          </a:xfrm>
          <a:prstGeom prst="rect">
            <a:avLst/>
          </a:prstGeom>
          <a:solidFill>
            <a:srgbClr val="0A7E8C">
              <a:alpha val="80000"/>
            </a:srgbClr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3675888" y="1362456"/>
            <a:ext cx="2907792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ICD-11 automatch + LLM-terminologist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4379976" y="1504188"/>
            <a:ext cx="1777594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4379976" y="1504188"/>
            <a:ext cx="711037" cy="118872"/>
          </a:xfrm>
          <a:prstGeom prst="rect">
            <a:avLst/>
          </a:prstGeom>
          <a:solidFill>
            <a:srgbClr val="0A7E8C">
              <a:alpha val="80000"/>
            </a:srgbClr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4416552" y="1504188"/>
            <a:ext cx="172273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Evaluation + connectathon prep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6601968" y="1645920"/>
            <a:ext cx="1481328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6638544" y="1645920"/>
            <a:ext cx="1516604" cy="95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Bridge showcase: ICD-11, LOINC, others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91440" y="1947669"/>
            <a:ext cx="1261872" cy="749808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1B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91440" y="1947669"/>
            <a:ext cx="1261872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lang="en-US" sz="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CIEL Source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lang="en-US" sz="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Mgmt (30%)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1417320" y="1947669"/>
            <a:ext cx="7406640" cy="749808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1417320" y="2020821"/>
            <a:ext cx="1481328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1417320" y="2020821"/>
            <a:ext cx="1481328" cy="118872"/>
          </a:xfrm>
          <a:prstGeom prst="rect">
            <a:avLst/>
          </a:prstGeom>
          <a:solidFill>
            <a:srgbClr val="F4B081">
              <a:alpha val="80000"/>
            </a:srgbClr>
          </a:solidFill>
          <a:ln w="12700" cap="flat" cmpd="sng">
            <a:solidFill>
              <a:srgbClr val="1B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1453896" y="2020821"/>
            <a:ext cx="1426464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CIEL Lab v2 Concept Manager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2157984" y="2162553"/>
            <a:ext cx="2221992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2157984" y="2162553"/>
            <a:ext cx="1110996" cy="118872"/>
          </a:xfrm>
          <a:prstGeom prst="rect">
            <a:avLst/>
          </a:prstGeom>
          <a:solidFill>
            <a:srgbClr val="F4B081">
              <a:alpha val="80000"/>
            </a:srgbClr>
          </a:solidFill>
          <a:ln w="12700" cap="flat" cmpd="sng">
            <a:solidFill>
              <a:srgbClr val="1B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2194560" y="2162553"/>
            <a:ext cx="2167128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QA Workflows (validations, OpenMRS)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3639312" y="2304285"/>
            <a:ext cx="2962656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3639312" y="2304285"/>
            <a:ext cx="592531" cy="118872"/>
          </a:xfrm>
          <a:prstGeom prst="rect">
            <a:avLst/>
          </a:prstGeom>
          <a:solidFill>
            <a:srgbClr val="F4B081">
              <a:alpha val="80000"/>
            </a:srgbClr>
          </a:solidFill>
          <a:ln w="12700" cap="flat" cmpd="sng">
            <a:solidFill>
              <a:srgbClr val="1B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3675888" y="2304285"/>
            <a:ext cx="2907792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CIEL Release pipeline in CIEL Lab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4379976" y="2446017"/>
            <a:ext cx="2962656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4416552" y="2446017"/>
            <a:ext cx="2907792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Changelog + admin retirement plan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6601968" y="2587749"/>
            <a:ext cx="1481328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6638544" y="2587749"/>
            <a:ext cx="1426464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Full live release via CIEL Lab v2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 rot="2700000">
            <a:off x="2807208" y="2560317"/>
            <a:ext cx="182880" cy="18288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2697480" y="2743197"/>
            <a:ext cx="40233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#48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 rot="2700000">
            <a:off x="3696005" y="2560317"/>
            <a:ext cx="182880" cy="18288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3586277" y="2743197"/>
            <a:ext cx="40233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#49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/>
          <p:nvPr/>
        </p:nvSpPr>
        <p:spPr>
          <a:xfrm rot="2700000">
            <a:off x="4288536" y="2560317"/>
            <a:ext cx="182880" cy="18288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4178808" y="2743197"/>
            <a:ext cx="40233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#53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🔴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 rot="2700000">
            <a:off x="5725424" y="2560317"/>
            <a:ext cx="182880" cy="182880"/>
          </a:xfrm>
          <a:prstGeom prst="rect">
            <a:avLst/>
          </a:prstGeom>
          <a:solidFill>
            <a:srgbClr val="9CA3A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5615696" y="2743197"/>
            <a:ext cx="40233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#54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/>
          <p:nvPr/>
        </p:nvSpPr>
        <p:spPr>
          <a:xfrm rot="2700000">
            <a:off x="7817206" y="2560318"/>
            <a:ext cx="182880" cy="182880"/>
          </a:xfrm>
          <a:prstGeom prst="rect">
            <a:avLst/>
          </a:prstGeom>
          <a:solidFill>
            <a:srgbClr val="9CA3A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7707478" y="2743198"/>
            <a:ext cx="40233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#56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91440" y="2987468"/>
            <a:ext cx="1261872" cy="74980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91440" y="2987468"/>
            <a:ext cx="1261872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Implementers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(45%)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1417320" y="2987468"/>
            <a:ext cx="7406640" cy="749808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1417320" y="3060620"/>
            <a:ext cx="4399544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1417320" y="3060620"/>
            <a:ext cx="3079681" cy="118872"/>
          </a:xfrm>
          <a:prstGeom prst="rect">
            <a:avLst/>
          </a:prstGeom>
          <a:solidFill>
            <a:srgbClr val="8DA9DB">
              <a:alpha val="80000"/>
            </a:srgbClr>
          </a:solidFill>
          <a:ln w="127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1453896" y="3060620"/>
            <a:ext cx="434468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TBv3 Collections + References (Versions tab, Add Refs, Preview)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1417320" y="3202352"/>
            <a:ext cx="5184648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1417320" y="3202352"/>
            <a:ext cx="2073859" cy="118872"/>
          </a:xfrm>
          <a:prstGeom prst="rect">
            <a:avLst/>
          </a:prstGeom>
          <a:solidFill>
            <a:srgbClr val="8DA9DB">
              <a:alpha val="80000"/>
            </a:srgbClr>
          </a:solidFill>
          <a:ln w="127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1453896" y="3202352"/>
            <a:ext cx="5129784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Mapper UX + Save to Collection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4379976" y="3344084"/>
            <a:ext cx="2962656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4416552" y="3344084"/>
            <a:ext cx="2907792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Concept Proposals (TBv3 + Mapper)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5120640" y="3485816"/>
            <a:ext cx="2962656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5157216" y="3485816"/>
            <a:ext cx="2907792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Team-based mapping workflows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5861304" y="3627548"/>
            <a:ext cx="2962656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5897880" y="3627548"/>
            <a:ext cx="2907792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Mapping decision memory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/>
          <p:nvPr/>
        </p:nvSpPr>
        <p:spPr>
          <a:xfrm rot="2700000">
            <a:off x="7103059" y="3600116"/>
            <a:ext cx="182880" cy="182880"/>
          </a:xfrm>
          <a:prstGeom prst="rect">
            <a:avLst/>
          </a:prstGeom>
          <a:solidFill>
            <a:srgbClr val="9CA3A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5"/>
          <p:cNvSpPr/>
          <p:nvPr/>
        </p:nvSpPr>
        <p:spPr>
          <a:xfrm>
            <a:off x="6993331" y="3782996"/>
            <a:ext cx="40233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#45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5"/>
          <p:cNvSpPr/>
          <p:nvPr/>
        </p:nvSpPr>
        <p:spPr>
          <a:xfrm rot="2700000">
            <a:off x="7695590" y="3600116"/>
            <a:ext cx="182880" cy="182880"/>
          </a:xfrm>
          <a:prstGeom prst="rect">
            <a:avLst/>
          </a:prstGeom>
          <a:solidFill>
            <a:srgbClr val="9CA3A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7585862" y="3782996"/>
            <a:ext cx="40233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#43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#44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/>
          <p:cNvSpPr/>
          <p:nvPr/>
        </p:nvSpPr>
        <p:spPr>
          <a:xfrm rot="2700000">
            <a:off x="8480694" y="3600116"/>
            <a:ext cx="182880" cy="182880"/>
          </a:xfrm>
          <a:prstGeom prst="rect">
            <a:avLst/>
          </a:prstGeom>
          <a:solidFill>
            <a:srgbClr val="9CA3A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5"/>
          <p:cNvSpPr/>
          <p:nvPr/>
        </p:nvSpPr>
        <p:spPr>
          <a:xfrm>
            <a:off x="8370966" y="3782996"/>
            <a:ext cx="40233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#46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5"/>
          <p:cNvSpPr/>
          <p:nvPr/>
        </p:nvSpPr>
        <p:spPr>
          <a:xfrm>
            <a:off x="91440" y="4040337"/>
            <a:ext cx="1261872" cy="749808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5"/>
          <p:cNvSpPr/>
          <p:nvPr/>
        </p:nvSpPr>
        <p:spPr>
          <a:xfrm>
            <a:off x="91440" y="4040337"/>
            <a:ext cx="1261872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Content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Curation (10%)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5"/>
          <p:cNvSpPr/>
          <p:nvPr/>
        </p:nvSpPr>
        <p:spPr>
          <a:xfrm>
            <a:off x="1417320" y="4040337"/>
            <a:ext cx="7406640" cy="749808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5"/>
          <p:cNvSpPr/>
          <p:nvPr/>
        </p:nvSpPr>
        <p:spPr>
          <a:xfrm>
            <a:off x="1417320" y="4113489"/>
            <a:ext cx="2962656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5"/>
          <p:cNvSpPr/>
          <p:nvPr/>
        </p:nvSpPr>
        <p:spPr>
          <a:xfrm>
            <a:off x="1417320" y="4113489"/>
            <a:ext cx="2962656" cy="118872"/>
          </a:xfrm>
          <a:prstGeom prst="rect">
            <a:avLst/>
          </a:prstGeom>
          <a:solidFill>
            <a:srgbClr val="059669">
              <a:alpha val="80000"/>
            </a:srgbClr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1453896" y="4113489"/>
            <a:ext cx="2907792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QA pipeline + CIEL Lab work queue setup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5"/>
          <p:cNvSpPr/>
          <p:nvPr/>
        </p:nvSpPr>
        <p:spPr>
          <a:xfrm>
            <a:off x="1417320" y="4255221"/>
            <a:ext cx="7406640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5"/>
          <p:cNvSpPr/>
          <p:nvPr/>
        </p:nvSpPr>
        <p:spPr>
          <a:xfrm>
            <a:off x="1417320" y="4255221"/>
            <a:ext cx="1110996" cy="118872"/>
          </a:xfrm>
          <a:prstGeom prst="rect">
            <a:avLst/>
          </a:prstGeom>
          <a:solidFill>
            <a:srgbClr val="059669">
              <a:alpha val="80000"/>
            </a:srgbClr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5"/>
          <p:cNvSpPr/>
          <p:nvPr/>
        </p:nvSpPr>
        <p:spPr>
          <a:xfrm>
            <a:off x="1453896" y="4255221"/>
            <a:ext cx="7351776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~15k concept review (ongoing transversal)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5"/>
          <p:cNvSpPr/>
          <p:nvPr/>
        </p:nvSpPr>
        <p:spPr>
          <a:xfrm>
            <a:off x="3639312" y="4396953"/>
            <a:ext cx="3703320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3639312" y="4396953"/>
            <a:ext cx="740664" cy="118872"/>
          </a:xfrm>
          <a:prstGeom prst="rect">
            <a:avLst/>
          </a:prstGeom>
          <a:solidFill>
            <a:srgbClr val="059669">
              <a:alpha val="80000"/>
            </a:srgbClr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5"/>
          <p:cNvSpPr/>
          <p:nvPr/>
        </p:nvSpPr>
        <p:spPr>
          <a:xfrm>
            <a:off x="3675888" y="4396953"/>
            <a:ext cx="3648456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AI QA tools (typo, spelling, AI assistant)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5"/>
          <p:cNvSpPr/>
          <p:nvPr/>
        </p:nvSpPr>
        <p:spPr>
          <a:xfrm>
            <a:off x="7342632" y="4538685"/>
            <a:ext cx="1229502" cy="118872"/>
          </a:xfrm>
          <a:prstGeom prst="rect">
            <a:avLst/>
          </a:prstGeom>
          <a:solidFill>
            <a:srgbClr val="DDE3EC"/>
          </a:solidFill>
          <a:ln w="12700" cap="flat" cmpd="sng">
            <a:solidFill>
              <a:srgbClr val="DDE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7379207" y="4538685"/>
            <a:ext cx="1359875" cy="101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Showcase: completed curation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5"/>
          <p:cNvSpPr/>
          <p:nvPr/>
        </p:nvSpPr>
        <p:spPr>
          <a:xfrm rot="2700000">
            <a:off x="4732934" y="4652985"/>
            <a:ext cx="182880" cy="18288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5"/>
          <p:cNvSpPr/>
          <p:nvPr/>
        </p:nvSpPr>
        <p:spPr>
          <a:xfrm>
            <a:off x="4623206" y="4835865"/>
            <a:ext cx="40233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#52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🔴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5"/>
          <p:cNvSpPr/>
          <p:nvPr/>
        </p:nvSpPr>
        <p:spPr>
          <a:xfrm rot="2700000">
            <a:off x="8480694" y="4652985"/>
            <a:ext cx="182880" cy="182880"/>
          </a:xfrm>
          <a:prstGeom prst="rect">
            <a:avLst/>
          </a:prstGeom>
          <a:solidFill>
            <a:srgbClr val="9CA3A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5"/>
          <p:cNvSpPr/>
          <p:nvPr/>
        </p:nvSpPr>
        <p:spPr>
          <a:xfrm>
            <a:off x="8370966" y="4835865"/>
            <a:ext cx="40233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#58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5"/>
          <p:cNvSpPr/>
          <p:nvPr/>
        </p:nvSpPr>
        <p:spPr>
          <a:xfrm rot="2700000">
            <a:off x="7096841" y="1765447"/>
            <a:ext cx="182880" cy="18288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5"/>
          <p:cNvSpPr/>
          <p:nvPr/>
        </p:nvSpPr>
        <p:spPr>
          <a:xfrm>
            <a:off x="6987113" y="1948327"/>
            <a:ext cx="40233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#55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5"/>
          <p:cNvSpPr/>
          <p:nvPr/>
        </p:nvSpPr>
        <p:spPr>
          <a:xfrm rot="2700000">
            <a:off x="7862539" y="1772633"/>
            <a:ext cx="182880" cy="182880"/>
          </a:xfrm>
          <a:prstGeom prst="rect">
            <a:avLst/>
          </a:prstGeom>
          <a:solidFill>
            <a:srgbClr val="9CA3A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5"/>
          <p:cNvSpPr/>
          <p:nvPr/>
        </p:nvSpPr>
        <p:spPr>
          <a:xfrm>
            <a:off x="7752811" y="1955513"/>
            <a:ext cx="40233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#57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5"/>
          <p:cNvSpPr/>
          <p:nvPr/>
        </p:nvSpPr>
        <p:spPr>
          <a:xfrm rot="2700000">
            <a:off x="2555382" y="1618488"/>
            <a:ext cx="182880" cy="18288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5"/>
          <p:cNvSpPr/>
          <p:nvPr/>
        </p:nvSpPr>
        <p:spPr>
          <a:xfrm>
            <a:off x="2445654" y="1801368"/>
            <a:ext cx="40233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#41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5"/>
          <p:cNvSpPr/>
          <p:nvPr/>
        </p:nvSpPr>
        <p:spPr>
          <a:xfrm rot="2700000">
            <a:off x="4288536" y="1618488"/>
            <a:ext cx="182880" cy="18288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5"/>
          <p:cNvSpPr/>
          <p:nvPr/>
        </p:nvSpPr>
        <p:spPr>
          <a:xfrm>
            <a:off x="4178808" y="1801368"/>
            <a:ext cx="40233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#51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🔴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5"/>
          <p:cNvSpPr/>
          <p:nvPr/>
        </p:nvSpPr>
        <p:spPr>
          <a:xfrm rot="2700000">
            <a:off x="6110569" y="1618488"/>
            <a:ext cx="182880" cy="18288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5"/>
          <p:cNvSpPr/>
          <p:nvPr/>
        </p:nvSpPr>
        <p:spPr>
          <a:xfrm>
            <a:off x="6000841" y="1801368"/>
            <a:ext cx="40233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#59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5"/>
          <p:cNvSpPr/>
          <p:nvPr/>
        </p:nvSpPr>
        <p:spPr>
          <a:xfrm rot="2700000">
            <a:off x="5725424" y="3678488"/>
            <a:ext cx="182880" cy="18288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5"/>
          <p:cNvSpPr/>
          <p:nvPr/>
        </p:nvSpPr>
        <p:spPr>
          <a:xfrm>
            <a:off x="5615696" y="3861368"/>
            <a:ext cx="40233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#42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600"/>
              <a:buFont typeface="Calibri"/>
              <a:buNone/>
            </a:pPr>
            <a:r>
              <a:rPr lang="en-US" sz="60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7E8C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6"/>
          <p:cNvSpPr/>
          <p:nvPr/>
        </p:nvSpPr>
        <p:spPr>
          <a:xfrm>
            <a:off x="365760" y="4572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🔗  CIEL Bridge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6"/>
          <p:cNvSpPr/>
          <p:nvPr/>
        </p:nvSpPr>
        <p:spPr>
          <a:xfrm>
            <a:off x="365760" y="45720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15% of SOW  ·  Milestones: 1 ✅ done, 1 </a:t>
            </a:r>
            <a:r>
              <a:rPr lang="en-US" sz="11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r>
              <a:rPr lang="en-US" sz="1100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 in progress, 1 ❌ overdue, 2 upcoming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6"/>
          <p:cNvSpPr/>
          <p:nvPr/>
        </p:nvSpPr>
        <p:spPr>
          <a:xfrm>
            <a:off x="274320" y="914400"/>
            <a:ext cx="3931920" cy="2743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6"/>
          <p:cNvSpPr/>
          <p:nvPr/>
        </p:nvSpPr>
        <p:spPr>
          <a:xfrm>
            <a:off x="274320" y="91440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COMPLETED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6"/>
          <p:cNvSpPr/>
          <p:nvPr/>
        </p:nvSpPr>
        <p:spPr>
          <a:xfrm>
            <a:off x="320040" y="126187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ICD11 Technical Demo E2E — showcased Feb 12, closed 20/20 issues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6"/>
          <p:cNvSpPr/>
          <p:nvPr/>
        </p:nvSpPr>
        <p:spPr>
          <a:xfrm>
            <a:off x="320040" y="162763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ICD-11 post-coordination microservice (normalize + AI naming)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320040" y="199339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Custom bridge source generalized beyond CIEL (#2471)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320040" y="235915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Configurable reranker + sentence-transformers v5.4 upgrade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320040" y="272491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Enhanced Match Details panel (unified score, attributes)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6"/>
          <p:cNvSpPr/>
          <p:nvPr/>
        </p:nvSpPr>
        <p:spPr>
          <a:xfrm>
            <a:off x="320040" y="309067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Validation dataset preparation underway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4572000" y="914400"/>
            <a:ext cx="4206240" cy="27432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6"/>
          <p:cNvSpPr/>
          <p:nvPr/>
        </p:nvSpPr>
        <p:spPr>
          <a:xfrm>
            <a:off x="4572000" y="91440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OVERDUE (due Apr 2–16, ~0% complete)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4617720" y="1967790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 u="sng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MS#51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— ICD11 E2E on pre-publication dataset (13 open issues)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6"/>
          <p:cNvSpPr/>
          <p:nvPr/>
        </p:nvSpPr>
        <p:spPr>
          <a:xfrm>
            <a:off x="4983480" y="2239171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→ Validation dataset, WHO automatch, LLM-terminologist, evaluation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4617720" y="2699310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 u="sng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MS#59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— ICD11 E2E on evaluation dataset (3 open issues)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6"/>
          <p:cNvSpPr/>
          <p:nvPr/>
        </p:nvSpPr>
        <p:spPr>
          <a:xfrm>
            <a:off x="4983480" y="2973630"/>
            <a:ext cx="3749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→ Requires more ticket definition plus some Mapper fixes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4617719" y="3508554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 u="sng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MS#55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— Country dataset E2E — due May 28 (connectathon prep)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6"/>
          <p:cNvSpPr/>
          <p:nvPr/>
        </p:nvSpPr>
        <p:spPr>
          <a:xfrm>
            <a:off x="4617720" y="4290366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 u="sng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MS#57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— CIEL Bridge full showcase — due Jun 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FEF9C3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⚠️  May ICD-11 Connectathon in Geneva is 3 weeks away.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6"/>
          <p:cNvSpPr/>
          <p:nvPr/>
        </p:nvSpPr>
        <p:spPr>
          <a:xfrm>
            <a:off x="4983480" y="3796590"/>
            <a:ext cx="3749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→ Requires more ticket definition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4617720" y="1342002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 u="sng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Geneva!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4983480" y="1601071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→ Milestone to be created - multiple overlapping initiatives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6"/>
          <p:cNvSpPr/>
          <p:nvPr/>
        </p:nvSpPr>
        <p:spPr>
          <a:xfrm>
            <a:off x="319990" y="3456422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Mapping architecture normalization underway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7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5E"/>
          </a:solidFill>
          <a:ln w="12700" cap="flat" cmpd="sng">
            <a:solidFill>
              <a:srgbClr val="1B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7"/>
          <p:cNvSpPr/>
          <p:nvPr/>
        </p:nvSpPr>
        <p:spPr>
          <a:xfrm>
            <a:off x="365760" y="4572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🗄️  CIEL Source Management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7"/>
          <p:cNvSpPr/>
          <p:nvPr/>
        </p:nvSpPr>
        <p:spPr>
          <a:xfrm>
            <a:off x="365760" y="45720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30% of SOW  ·  Milestones: 3 ✅ done, 1 ❌ overdue, 1 upcoming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7"/>
          <p:cNvSpPr/>
          <p:nvPr/>
        </p:nvSpPr>
        <p:spPr>
          <a:xfrm>
            <a:off x="274320" y="914400"/>
            <a:ext cx="3931920" cy="2743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7"/>
          <p:cNvSpPr/>
          <p:nvPr/>
        </p:nvSpPr>
        <p:spPr>
          <a:xfrm>
            <a:off x="274320" y="91440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COMPLETED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7"/>
          <p:cNvSpPr/>
          <p:nvPr/>
        </p:nvSpPr>
        <p:spPr>
          <a:xfrm>
            <a:off x="320040" y="126187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MS#48 — CIEL Lab v2 Concept Manager (Filipe) — 5/5 ✅ Mar 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7"/>
          <p:cNvSpPr/>
          <p:nvPr/>
        </p:nvSpPr>
        <p:spPr>
          <a:xfrm>
            <a:off x="320040" y="162763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MS#49 — CIEL Lab v2 Mock E2E (Andy) — 22/23 ✅ Mar 19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7"/>
          <p:cNvSpPr/>
          <p:nvPr/>
        </p:nvSpPr>
        <p:spPr>
          <a:xfrm>
            <a:off x="320040" y="236045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CIEL releases continuing — v2026-04-28 just released ✅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7"/>
          <p:cNvSpPr/>
          <p:nvPr/>
        </p:nvSpPr>
        <p:spPr>
          <a:xfrm>
            <a:off x="320040" y="272621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Concept Editor QA: names + mappings validation (#2405, #2408)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7"/>
          <p:cNvSpPr/>
          <p:nvPr/>
        </p:nvSpPr>
        <p:spPr>
          <a:xfrm>
            <a:off x="320040" y="309197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OpenMRS FSN duplicate validation bug fixed (#2406)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7"/>
          <p:cNvSpPr/>
          <p:nvPr/>
        </p:nvSpPr>
        <p:spPr>
          <a:xfrm>
            <a:off x="320040" y="345773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Export streaming crash fixed; API performance improvements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7"/>
          <p:cNvSpPr/>
          <p:nvPr/>
        </p:nvSpPr>
        <p:spPr>
          <a:xfrm>
            <a:off x="4572000" y="914400"/>
            <a:ext cx="4206240" cy="27432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7"/>
          <p:cNvSpPr/>
          <p:nvPr/>
        </p:nvSpPr>
        <p:spPr>
          <a:xfrm>
            <a:off x="4572000" y="91440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OVERDUE — Behind Schedule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7"/>
          <p:cNvSpPr/>
          <p:nvPr/>
        </p:nvSpPr>
        <p:spPr>
          <a:xfrm>
            <a:off x="320040" y="1975104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</a:t>
            </a:r>
            <a:r>
              <a:rPr lang="en-US" sz="10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MS#53 — CIEL Source Mgmt QA Workflows — 2/2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7"/>
          <p:cNvSpPr/>
          <p:nvPr/>
        </p:nvSpPr>
        <p:spPr>
          <a:xfrm>
            <a:off x="5140234" y="1722011"/>
            <a:ext cx="354656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→ OpenMRS Validation Query, real-time schema, batch API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7"/>
          <p:cNvSpPr/>
          <p:nvPr/>
        </p:nvSpPr>
        <p:spPr>
          <a:xfrm>
            <a:off x="4617720" y="142189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MS#54 — CIEL Release E2E (Filipe) — 0%, due May 7 (5 open)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7"/>
          <p:cNvSpPr/>
          <p:nvPr/>
        </p:nvSpPr>
        <p:spPr>
          <a:xfrm>
            <a:off x="4617720" y="2197499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CIEL Lab v2 Release pipeline (#2474) — in progress, complex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7"/>
          <p:cNvSpPr/>
          <p:nvPr/>
        </p:nvSpPr>
        <p:spPr>
          <a:xfrm>
            <a:off x="4617720" y="2561953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Export formats analysis (#2475) + scripts (#2477, #2478) — open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7"/>
          <p:cNvSpPr/>
          <p:nvPr/>
        </p:nvSpPr>
        <p:spPr>
          <a:xfrm>
            <a:off x="4617720" y="2927713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🚨  Staging pollution (#2490, #2491) — release QA unreliable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7"/>
          <p:cNvSpPr/>
          <p:nvPr/>
        </p:nvSpPr>
        <p:spPr>
          <a:xfrm>
            <a:off x="4617720" y="3293473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🚨  CIEL Admin retirement plan — decision still pending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7"/>
          <p:cNvSpPr/>
          <p:nvPr/>
        </p:nvSpPr>
        <p:spPr>
          <a:xfrm>
            <a:off x="4617720" y="3659248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🚨  Gap: Identifying issues vs. acting upon them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7"/>
          <p:cNvSpPr/>
          <p:nvPr/>
        </p:nvSpPr>
        <p:spPr>
          <a:xfrm>
            <a:off x="319978" y="3777763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CIEL Lab used to push CIEL changes to Prod (mini win!)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7"/>
          <p:cNvSpPr/>
          <p:nvPr/>
        </p:nvSpPr>
        <p:spPr>
          <a:xfrm>
            <a:off x="274320" y="4617720"/>
            <a:ext cx="8595300" cy="347400"/>
          </a:xfrm>
          <a:prstGeom prst="rect">
            <a:avLst/>
          </a:prstGeom>
          <a:solidFill>
            <a:srgbClr val="FEF9C3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7"/>
          <p:cNvSpPr/>
          <p:nvPr/>
        </p:nvSpPr>
        <p:spPr>
          <a:xfrm>
            <a:off x="365760" y="4617720"/>
            <a:ext cx="84126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⚠️  Need to bring together the QA/detection of issues and the bulk-editing based on QA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8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6EFD"/>
          </a:solidFill>
          <a:ln w="127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365760" y="4572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🌐  CIEL + OpenMRS Implementers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365760" y="45720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45% of SOW  - Requires more definition of requirements and designs for upcoming features!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274320" y="914400"/>
            <a:ext cx="3931920" cy="274320"/>
          </a:xfrm>
          <a:prstGeom prst="rect">
            <a:avLst/>
          </a:prstGeom>
          <a:solidFill>
            <a:srgbClr val="0D6EFD"/>
          </a:solidFill>
          <a:ln w="127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274320" y="91440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TBv3 — TermBrowser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320040" y="126187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  Versions + Expansions tab live (M42) (#1983)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320040" y="157276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  Expansion CTAs: Create, Set Default, Delete, Rebuild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8"/>
          <p:cNvSpPr/>
          <p:nvPr/>
        </p:nvSpPr>
        <p:spPr>
          <a:xfrm>
            <a:off x="320040" y="188366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  Cascade component — reusable (#2440)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320040" y="219456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  Add Reference to Collection from outside (#2006)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320040" y="250545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  Reference Consumer + Detail view (#1854, #2432)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320040" y="281635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  Reference Preview CTA (#2007)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320040" y="312724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🔄  Add References within Collection (#2431)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320040" y="343814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🔄  API: Enhance references/preview/ endpoint (#2469)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320040" y="37490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🔄  Expansion selector on Concepts/Mappings (#2493)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320040" y="405993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⬜  Collection Maintenance 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8"/>
          <p:cNvSpPr/>
          <p:nvPr/>
        </p:nvSpPr>
        <p:spPr>
          <a:xfrm>
            <a:off x="320040" y="437083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⬜  Concept Proposals MVP (#SOW-27) — not started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4572000" y="914400"/>
            <a:ext cx="4206240" cy="274320"/>
          </a:xfrm>
          <a:prstGeom prst="rect">
            <a:avLst/>
          </a:prstGeom>
          <a:solidFill>
            <a:srgbClr val="0D6EFD"/>
          </a:solidFill>
          <a:ln w="127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4572000" y="91440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OCL Mapper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8"/>
          <p:cNvSpPr/>
          <p:nvPr/>
        </p:nvSpPr>
        <p:spPr>
          <a:xfrm>
            <a:off x="4617720" y="126187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  Create project from existing (#2485)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8"/>
          <p:cNvSpPr/>
          <p:nvPr/>
        </p:nvSpPr>
        <p:spPr>
          <a:xfrm>
            <a:off x="4617720" y="157276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  Dashboard row actions + kebab menu (#2486)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8"/>
          <p:cNvSpPr/>
          <p:nvPr/>
        </p:nvSpPr>
        <p:spPr>
          <a:xfrm>
            <a:off x="4617720" y="188366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  API throttling overlay (#2483)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8"/>
          <p:cNvSpPr/>
          <p:nvPr/>
        </p:nvSpPr>
        <p:spPr>
          <a:xfrm>
            <a:off x="4617720" y="21945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  Map project N+1 fix (5s → &lt;1s) (#2479)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4617720" y="250545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  Candidate pool persistence fixed (#2444)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8"/>
          <p:cNvSpPr/>
          <p:nvPr/>
        </p:nvSpPr>
        <p:spPr>
          <a:xfrm>
            <a:off x="4617720" y="281635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  Multi-algo score details panel (#2315)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8"/>
          <p:cNvSpPr/>
          <p:nvPr/>
        </p:nvSpPr>
        <p:spPr>
          <a:xfrm>
            <a:off x="4617720" y="312724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🔄  'Save to Collection' feature (#SOW-40)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8"/>
          <p:cNvSpPr/>
          <p:nvPr/>
        </p:nvSpPr>
        <p:spPr>
          <a:xfrm>
            <a:off x="4617720" y="343814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🔄  UX improvements for CIEL Early Access users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4617720" y="37490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🔄  Mapping decision memory (#SOW-21, 71)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8"/>
          <p:cNvSpPr/>
          <p:nvPr/>
        </p:nvSpPr>
        <p:spPr>
          <a:xfrm>
            <a:off x="4617720" y="405993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⬜  Team-based mapping workflows (#SOW-2, 37, 39)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8"/>
          <p:cNvSpPr/>
          <p:nvPr/>
        </p:nvSpPr>
        <p:spPr>
          <a:xfrm>
            <a:off x="4617720" y="4370832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⬜  Large project support &gt;1k rows (#SOW-32)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8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solidFill>
            <a:srgbClr val="FFFBEB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8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⚠️  Lots of progress made, but we need to prepare for community use. Need to open this up more to the community, not just the core team!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8"/>
          <p:cNvSpPr/>
          <p:nvPr/>
        </p:nvSpPr>
        <p:spPr>
          <a:xfrm>
            <a:off x="6983070" y="1938585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  Bridge is generic - can be done against any CIEL map  source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8"/>
          <p:cNvSpPr/>
          <p:nvPr/>
        </p:nvSpPr>
        <p:spPr>
          <a:xfrm>
            <a:off x="6983070" y="2249485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  Multiple reranker models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8"/>
          <p:cNvSpPr/>
          <p:nvPr/>
        </p:nvSpPr>
        <p:spPr>
          <a:xfrm>
            <a:off x="6949520" y="3127323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🔄  Prompt template selection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8"/>
          <p:cNvSpPr/>
          <p:nvPr/>
        </p:nvSpPr>
        <p:spPr>
          <a:xfrm>
            <a:off x="6983070" y="1600285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  Request from community to contribute to OCL Mapper! Lots of interest!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9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9"/>
          <p:cNvSpPr/>
          <p:nvPr/>
        </p:nvSpPr>
        <p:spPr>
          <a:xfrm>
            <a:off x="365760" y="4572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✏️  CIEL Content Curation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365760" y="45720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10% of SOW  ·  Milestones: 0 ✅ closed, 1 ❌ overdue (partially done), 1 upcoming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274320" y="914400"/>
            <a:ext cx="3931920" cy="2743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9"/>
          <p:cNvSpPr/>
          <p:nvPr/>
        </p:nvSpPr>
        <p:spPr>
          <a:xfrm>
            <a:off x="274320" y="91440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COMPLETED (features, not showcase)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9"/>
          <p:cNvSpPr/>
          <p:nvPr/>
        </p:nvSpPr>
        <p:spPr>
          <a:xfrm>
            <a:off x="320040" y="126187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CIEL QA work queue: layout, filters, progress view (#2412)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320040" y="167335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Casing triage migrated to CIEL Lab v2 (#2328) — ongoing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320040" y="208483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Translation tools with LM pre-translation (FR/PT)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320040" y="249631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Concept Editor QA validations (#2405, #2408)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320040" y="290779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CIEL releases on schedule — v2026-04-28 released ✅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9"/>
          <p:cNvSpPr/>
          <p:nvPr/>
        </p:nvSpPr>
        <p:spPr>
          <a:xfrm>
            <a:off x="4572000" y="914400"/>
            <a:ext cx="4206240" cy="27432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9"/>
          <p:cNvSpPr/>
          <p:nvPr/>
        </p:nvSpPr>
        <p:spPr>
          <a:xfrm>
            <a:off x="4572000" y="91440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OVERDUE + OPEN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9"/>
          <p:cNvSpPr/>
          <p:nvPr/>
        </p:nvSpPr>
        <p:spPr>
          <a:xfrm>
            <a:off x="4617720" y="1261872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50" u="sng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MS#52</a:t>
            </a:r>
            <a:r>
              <a:rPr lang="en-US" sz="10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— Showcase CIEL Content E2E Workflow — 0%, due Apr 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9"/>
          <p:cNvSpPr/>
          <p:nvPr/>
        </p:nvSpPr>
        <p:spPr>
          <a:xfrm>
            <a:off x="5394960" y="1673352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→ 2 open issues – nearly ready to close?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4617720" y="2084832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50" u="sng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MS#58</a:t>
            </a:r>
            <a:r>
              <a:rPr lang="en-US" sz="10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 — Showcase Completed Curation — due Jun 25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9"/>
          <p:cNvSpPr/>
          <p:nvPr/>
        </p:nvSpPr>
        <p:spPr>
          <a:xfrm>
            <a:off x="5394960" y="2404872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→ Goal: all ~15k concepts through QA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9"/>
          <p:cNvSpPr/>
          <p:nvPr/>
        </p:nvSpPr>
        <p:spPr>
          <a:xfrm>
            <a:off x="4617720" y="2907792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~15,000 concepts still need manual review — ongoing transversal task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9"/>
          <p:cNvSpPr/>
          <p:nvPr/>
        </p:nvSpPr>
        <p:spPr>
          <a:xfrm>
            <a:off x="4617720" y="3236972"/>
            <a:ext cx="4114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AI QA: typo + US/UK spelling detection tools (#2404)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9"/>
          <p:cNvSpPr/>
          <p:nvPr/>
        </p:nvSpPr>
        <p:spPr>
          <a:xfrm>
            <a:off x="4617720" y="3547877"/>
            <a:ext cx="4114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OCL AI Assistant reusable QA workflow (#SOW-57)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9"/>
          <p:cNvSpPr/>
          <p:nvPr/>
        </p:nvSpPr>
        <p:spPr>
          <a:xfrm>
            <a:off x="274320" y="402336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B5E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B2B5E"/>
                </a:solidFill>
                <a:latin typeface="Calibri"/>
                <a:ea typeface="Calibri"/>
                <a:cs typeface="Calibri"/>
                <a:sym typeface="Calibri"/>
              </a:rPr>
              <a:t>~15k concept QA progress: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9"/>
          <p:cNvSpPr/>
          <p:nvPr/>
        </p:nvSpPr>
        <p:spPr>
          <a:xfrm>
            <a:off x="274320" y="4315968"/>
            <a:ext cx="8595360" cy="292608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9"/>
          <p:cNvSpPr/>
          <p:nvPr/>
        </p:nvSpPr>
        <p:spPr>
          <a:xfrm>
            <a:off x="274320" y="4315968"/>
            <a:ext cx="1031443" cy="292608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9"/>
          <p:cNvSpPr/>
          <p:nvPr/>
        </p:nvSpPr>
        <p:spPr>
          <a:xfrm>
            <a:off x="292608" y="4315968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~10–15%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9"/>
          <p:cNvSpPr/>
          <p:nvPr/>
        </p:nvSpPr>
        <p:spPr>
          <a:xfrm>
            <a:off x="274320" y="4645152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CIEL content curation is a never-ending effort. Trying to reign this in as a team and do the most important stuff.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9"/>
          <p:cNvSpPr/>
          <p:nvPr/>
        </p:nvSpPr>
        <p:spPr>
          <a:xfrm>
            <a:off x="4617720" y="3857552"/>
            <a:ext cx="4114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05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New naming issues identified for translations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B5E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1B2B5E"/>
                </a:solidFill>
                <a:latin typeface="Calibri"/>
                <a:ea typeface="Calibri"/>
                <a:cs typeface="Calibri"/>
                <a:sym typeface="Calibri"/>
              </a:rPr>
              <a:t>Risks &amp; Decisions Needed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Items requiring team attention or decision before the next iteration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274320" y="1005840"/>
            <a:ext cx="8595360" cy="731520"/>
          </a:xfrm>
          <a:prstGeom prst="rect">
            <a:avLst/>
          </a:prstGeom>
          <a:solidFill>
            <a:srgbClr val="FEF2F2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274320" y="1005840"/>
            <a:ext cx="109728" cy="73152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0"/>
          <p:cNvSpPr/>
          <p:nvPr/>
        </p:nvSpPr>
        <p:spPr>
          <a:xfrm>
            <a:off x="457200" y="102412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🚨 HIGH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1325880" y="1042416"/>
            <a:ext cx="7406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5 showcase milestones are overdue (Apr 2–16)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457200" y="1344168"/>
            <a:ext cx="8321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MS#51, #52, #53, #54, #59 all past due. Combined: 21 open issues + 2 showcases with zero issues linked. Need triage: reschedule, scope down, or reassign.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274320" y="1801368"/>
            <a:ext cx="8595360" cy="731520"/>
          </a:xfrm>
          <a:prstGeom prst="rect">
            <a:avLst/>
          </a:prstGeom>
          <a:solidFill>
            <a:srgbClr val="FEF2F2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274320" y="1801368"/>
            <a:ext cx="109728" cy="73152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457200" y="1819656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🚨 HIGH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1325880" y="1837944"/>
            <a:ext cx="7406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Staging environment pollution (#2490, #2491)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457200" y="2139696"/>
            <a:ext cx="8321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Automated imports diverged staging from production. Duplicate retired mappings cause import crashes. CIEL release validation unreliable until fixed.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274320" y="2596896"/>
            <a:ext cx="8595360" cy="731520"/>
          </a:xfrm>
          <a:prstGeom prst="rect">
            <a:avLst/>
          </a:prstGeom>
          <a:solidFill>
            <a:srgbClr val="FEF2F2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274320" y="2596896"/>
            <a:ext cx="109728" cy="73152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0"/>
          <p:cNvSpPr/>
          <p:nvPr/>
        </p:nvSpPr>
        <p:spPr>
          <a:xfrm>
            <a:off x="457200" y="261518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🚨 HIGH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0"/>
          <p:cNvSpPr/>
          <p:nvPr/>
        </p:nvSpPr>
        <p:spPr>
          <a:xfrm>
            <a:off x="1325880" y="2633472"/>
            <a:ext cx="7406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ICD-11 hierarchy import bug (#2462) — connectathon in 4 weeks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0"/>
          <p:cNvSpPr/>
          <p:nvPr/>
        </p:nvSpPr>
        <p:spPr>
          <a:xfrm>
            <a:off x="457200" y="2935224"/>
            <a:ext cx="8321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parent_concept_urls lost after bulk import. Breaks bridge pipeline. Must resolve before May Geneva connectathon.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0"/>
          <p:cNvSpPr/>
          <p:nvPr/>
        </p:nvSpPr>
        <p:spPr>
          <a:xfrm>
            <a:off x="274320" y="3392424"/>
            <a:ext cx="8595360" cy="731520"/>
          </a:xfrm>
          <a:prstGeom prst="rect">
            <a:avLst/>
          </a:prstGeom>
          <a:solidFill>
            <a:srgbClr val="FFFBEB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0"/>
          <p:cNvSpPr/>
          <p:nvPr/>
        </p:nvSpPr>
        <p:spPr>
          <a:xfrm>
            <a:off x="274320" y="3392424"/>
            <a:ext cx="109728" cy="73152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0"/>
          <p:cNvSpPr/>
          <p:nvPr/>
        </p:nvSpPr>
        <p:spPr>
          <a:xfrm>
            <a:off x="457200" y="341071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⚠️ MED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0"/>
          <p:cNvSpPr/>
          <p:nvPr/>
        </p:nvSpPr>
        <p:spPr>
          <a:xfrm>
            <a:off x="1325880" y="3429000"/>
            <a:ext cx="7406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CIEL Admin retirement plan — decision pending (SOW Tracker #47)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0"/>
          <p:cNvSpPr/>
          <p:nvPr/>
        </p:nvSpPr>
        <p:spPr>
          <a:xfrm>
            <a:off x="457200" y="3730752"/>
            <a:ext cx="8321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 decision on Dropbox continuation or mysqldump script ownership. Blocks release pipeline milestone MS#54.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0"/>
          <p:cNvSpPr/>
          <p:nvPr/>
        </p:nvSpPr>
        <p:spPr>
          <a:xfrm>
            <a:off x="274320" y="4187952"/>
            <a:ext cx="8595360" cy="731520"/>
          </a:xfrm>
          <a:prstGeom prst="rect">
            <a:avLst/>
          </a:prstGeom>
          <a:solidFill>
            <a:srgbClr val="FFFBEB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0"/>
          <p:cNvSpPr/>
          <p:nvPr/>
        </p:nvSpPr>
        <p:spPr>
          <a:xfrm>
            <a:off x="274320" y="4187952"/>
            <a:ext cx="109728" cy="73152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0"/>
          <p:cNvSpPr/>
          <p:nvPr/>
        </p:nvSpPr>
        <p:spPr>
          <a:xfrm>
            <a:off x="457200" y="420624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⚠️ MED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0"/>
          <p:cNvSpPr/>
          <p:nvPr/>
        </p:nvSpPr>
        <p:spPr>
          <a:xfrm>
            <a:off x="1325880" y="4224528"/>
            <a:ext cx="7406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5 CIEL Implementer milestones are upcoming but behind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0"/>
          <p:cNvSpPr/>
          <p:nvPr/>
        </p:nvSpPr>
        <p:spPr>
          <a:xfrm>
            <a:off x="457200" y="4526280"/>
            <a:ext cx="8321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MS#42–46 cover Collection workflows, Team-based Mapping, Collection Maintenance, Concept Proposals, and Decision Memory. Need more support for building out requirements, designs, workflows, etc.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B5E"/>
        </a:solidFill>
        <a:effectLst/>
      </p:bgPr>
    </p:bg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Indirect Wins &amp; Sneaky Goals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Calibri"/>
              <a:buNone/>
            </a:pPr>
            <a:r>
              <a:rPr lang="en-US" sz="1300" i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How we're making the most of limited time — and what we're learning along the way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274320" y="1051560"/>
            <a:ext cx="2651760" cy="164592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384048" y="114300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🤖  AI-Powered Ticket Triage at Scale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384048" y="1600200"/>
            <a:ext cx="24231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Org-wide label taxonomy across 36 repos. 1,073 issues migrated. AI triage pipeline flags scope, risk &amp; spec quality — cutting planning overhead.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1"/>
          <p:cNvSpPr/>
          <p:nvPr/>
        </p:nvSpPr>
        <p:spPr>
          <a:xfrm>
            <a:off x="3154680" y="1051560"/>
            <a:ext cx="2651760" cy="164592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1"/>
          <p:cNvSpPr/>
          <p:nvPr/>
        </p:nvSpPr>
        <p:spPr>
          <a:xfrm>
            <a:off x="3264408" y="114300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📚  Spec-First Development with ocl-kb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1"/>
          <p:cNvSpPr/>
          <p:nvPr/>
        </p:nvSpPr>
        <p:spPr>
          <a:xfrm>
            <a:off x="3264408" y="1600200"/>
            <a:ext cx="24231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KB-driven spec approach means developers move faster with less back-and-forth. Tickets link directly to KB specs — reducing PM time per ticket.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6035040" y="1051560"/>
            <a:ext cx="2651760" cy="164592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1"/>
          <p:cNvSpPr/>
          <p:nvPr/>
        </p:nvSpPr>
        <p:spPr>
          <a:xfrm>
            <a:off x="6144768" y="114300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🎨  OCL Design System v1 Shipped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1"/>
          <p:cNvSpPr/>
          <p:nvPr/>
        </p:nvSpPr>
        <p:spPr>
          <a:xfrm>
            <a:off x="6144768" y="1600200"/>
            <a:ext cx="24231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First public design system at openconceptlab.github.io/ocl-design-system. Speeds up TBv3 component decisions, reduces design review cycles.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1"/>
          <p:cNvSpPr/>
          <p:nvPr/>
        </p:nvSpPr>
        <p:spPr>
          <a:xfrm>
            <a:off x="274320" y="2880360"/>
            <a:ext cx="2651760" cy="164592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1"/>
          <p:cNvSpPr/>
          <p:nvPr/>
        </p:nvSpPr>
        <p:spPr>
          <a:xfrm>
            <a:off x="384048" y="297180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🔬  AI-Assisted QA Workflows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1"/>
          <p:cNvSpPr/>
          <p:nvPr/>
        </p:nvSpPr>
        <p:spPr>
          <a:xfrm>
            <a:off x="384048" y="3429000"/>
            <a:ext cx="24231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LM-based typo detection, US/UK spelling tools, and AI pre-translation support in CIEL Lab. AI makes curation of 15k concepts tractable.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1"/>
          <p:cNvSpPr/>
          <p:nvPr/>
        </p:nvSpPr>
        <p:spPr>
          <a:xfrm>
            <a:off x="3154680" y="2880360"/>
            <a:ext cx="2651760" cy="164592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3264408" y="297180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⚡  Performance Improvements Beyond SOW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1"/>
          <p:cNvSpPr/>
          <p:nvPr/>
        </p:nvSpPr>
        <p:spPr>
          <a:xfrm>
            <a:off x="3264408" y="3429000"/>
            <a:ext cx="24231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N+1 query fix (5s→&lt;1s mapper load), mapped-sources fix (38s→sub-second), ES indexing speedups. Users benefit immediately. (Shoutout Jon for lots of PRs!)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1"/>
          <p:cNvSpPr/>
          <p:nvPr/>
        </p:nvSpPr>
        <p:spPr>
          <a:xfrm>
            <a:off x="6035040" y="2880360"/>
            <a:ext cx="2651760" cy="164592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1"/>
          <p:cNvSpPr/>
          <p:nvPr/>
        </p:nvSpPr>
        <p:spPr>
          <a:xfrm>
            <a:off x="6144768" y="297180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🏛️  Governance &amp; Community Infrastructure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1"/>
          <p:cNvSpPr/>
          <p:nvPr/>
        </p:nvSpPr>
        <p:spPr>
          <a:xfrm>
            <a:off x="6144768" y="3429000"/>
            <a:ext cx="24231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CONTRIBUTING.md, PR/release/ticket policies, 33-label taxonomy. Sets OCL up for sustainable community contribution beyond this project.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B5E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1B2B5E"/>
                </a:solidFill>
                <a:latin typeface="Calibri"/>
                <a:ea typeface="Calibri"/>
                <a:cs typeface="Calibri"/>
                <a:sym typeface="Calibri"/>
              </a:rPr>
              <a:t>What's Next — May through July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Priorities for the second half — organized around milestone delivery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2"/>
          <p:cNvSpPr/>
          <p:nvPr/>
        </p:nvSpPr>
        <p:spPr>
          <a:xfrm>
            <a:off x="274320" y="1005840"/>
            <a:ext cx="2743200" cy="32004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2"/>
          <p:cNvSpPr/>
          <p:nvPr/>
        </p:nvSpPr>
        <p:spPr>
          <a:xfrm>
            <a:off x="274320" y="10058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Immediate (May)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2"/>
          <p:cNvSpPr/>
          <p:nvPr/>
        </p:nvSpPr>
        <p:spPr>
          <a:xfrm>
            <a:off x="274320" y="1371600"/>
            <a:ext cx="2743200" cy="59436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2"/>
          <p:cNvSpPr/>
          <p:nvPr/>
        </p:nvSpPr>
        <p:spPr>
          <a:xfrm>
            <a:off x="274320" y="1371600"/>
            <a:ext cx="91440" cy="59436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438912" y="1371600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Fix ICD-11 hierarchy bug + staging env (#2462, #2490)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2"/>
          <p:cNvSpPr/>
          <p:nvPr/>
        </p:nvSpPr>
        <p:spPr>
          <a:xfrm>
            <a:off x="274320" y="2029968"/>
            <a:ext cx="2743200" cy="59436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2"/>
          <p:cNvSpPr/>
          <p:nvPr/>
        </p:nvSpPr>
        <p:spPr>
          <a:xfrm>
            <a:off x="274320" y="2029968"/>
            <a:ext cx="91440" cy="59436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2"/>
          <p:cNvSpPr/>
          <p:nvPr/>
        </p:nvSpPr>
        <p:spPr>
          <a:xfrm>
            <a:off x="438912" y="2029968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Deliver MS#51: ICD11 E2E pre-pub dataset showcase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2"/>
          <p:cNvSpPr/>
          <p:nvPr/>
        </p:nvSpPr>
        <p:spPr>
          <a:xfrm>
            <a:off x="274320" y="2688336"/>
            <a:ext cx="2743200" cy="59436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2"/>
          <p:cNvSpPr/>
          <p:nvPr/>
        </p:nvSpPr>
        <p:spPr>
          <a:xfrm>
            <a:off x="274320" y="2688336"/>
            <a:ext cx="91440" cy="59436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438912" y="2688336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WHO ICD-11 automatch for Geneva connectathon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2"/>
          <p:cNvSpPr/>
          <p:nvPr/>
        </p:nvSpPr>
        <p:spPr>
          <a:xfrm>
            <a:off x="274320" y="3346704"/>
            <a:ext cx="2743200" cy="59436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274320" y="3346704"/>
            <a:ext cx="91440" cy="59436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438912" y="3346704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Agree on CIEL Admin retirement plan (unblocks MS#54)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274320" y="4005072"/>
            <a:ext cx="2743200" cy="59436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2"/>
          <p:cNvSpPr/>
          <p:nvPr/>
        </p:nvSpPr>
        <p:spPr>
          <a:xfrm>
            <a:off x="274320" y="4005072"/>
            <a:ext cx="91440" cy="59436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438912" y="4005072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Bulk Import Performance Improvements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3200400" y="1005840"/>
            <a:ext cx="2743200" cy="320040"/>
          </a:xfrm>
          <a:prstGeom prst="rect">
            <a:avLst/>
          </a:prstGeom>
          <a:solidFill>
            <a:srgbClr val="0A7E8C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3200400" y="10058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 Delivery (May–Jun)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2"/>
          <p:cNvSpPr/>
          <p:nvPr/>
        </p:nvSpPr>
        <p:spPr>
          <a:xfrm>
            <a:off x="3200400" y="1371600"/>
            <a:ext cx="2743200" cy="59436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3200400" y="1371600"/>
            <a:ext cx="91440" cy="594360"/>
          </a:xfrm>
          <a:prstGeom prst="rect">
            <a:avLst/>
          </a:prstGeom>
          <a:solidFill>
            <a:srgbClr val="0A7E8C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3364992" y="1371600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MS#55: ICD11 E2E on country dataset (May 28)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3200400" y="2029968"/>
            <a:ext cx="2743200" cy="59436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2"/>
          <p:cNvSpPr/>
          <p:nvPr/>
        </p:nvSpPr>
        <p:spPr>
          <a:xfrm>
            <a:off x="3200400" y="2029968"/>
            <a:ext cx="91440" cy="594360"/>
          </a:xfrm>
          <a:prstGeom prst="rect">
            <a:avLst/>
          </a:prstGeom>
          <a:solidFill>
            <a:srgbClr val="0A7E8C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3364992" y="2029968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CIEL Lab v2 release pipeline (#2474) → MS#56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2"/>
          <p:cNvSpPr/>
          <p:nvPr/>
        </p:nvSpPr>
        <p:spPr>
          <a:xfrm>
            <a:off x="3200400" y="2688336"/>
            <a:ext cx="2743200" cy="59436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2"/>
          <p:cNvSpPr/>
          <p:nvPr/>
        </p:nvSpPr>
        <p:spPr>
          <a:xfrm>
            <a:off x="3200400" y="2688336"/>
            <a:ext cx="91440" cy="594360"/>
          </a:xfrm>
          <a:prstGeom prst="rect">
            <a:avLst/>
          </a:prstGeom>
          <a:solidFill>
            <a:srgbClr val="0A7E8C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2"/>
          <p:cNvSpPr/>
          <p:nvPr/>
        </p:nvSpPr>
        <p:spPr>
          <a:xfrm>
            <a:off x="3364992" y="2688336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Add References within Collection (#2431)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2"/>
          <p:cNvSpPr/>
          <p:nvPr/>
        </p:nvSpPr>
        <p:spPr>
          <a:xfrm>
            <a:off x="3200400" y="3346704"/>
            <a:ext cx="2743200" cy="59436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2"/>
          <p:cNvSpPr/>
          <p:nvPr/>
        </p:nvSpPr>
        <p:spPr>
          <a:xfrm>
            <a:off x="3200400" y="3346704"/>
            <a:ext cx="91440" cy="594360"/>
          </a:xfrm>
          <a:prstGeom prst="rect">
            <a:avLst/>
          </a:prstGeom>
          <a:solidFill>
            <a:srgbClr val="0A7E8C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2"/>
          <p:cNvSpPr/>
          <p:nvPr/>
        </p:nvSpPr>
        <p:spPr>
          <a:xfrm>
            <a:off x="3364992" y="3346704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Concept Proposals MVP (#SOW-27)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2"/>
          <p:cNvSpPr/>
          <p:nvPr/>
        </p:nvSpPr>
        <p:spPr>
          <a:xfrm>
            <a:off x="3200400" y="4005072"/>
            <a:ext cx="2743200" cy="59436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2"/>
          <p:cNvSpPr/>
          <p:nvPr/>
        </p:nvSpPr>
        <p:spPr>
          <a:xfrm>
            <a:off x="3200400" y="4005072"/>
            <a:ext cx="91440" cy="594360"/>
          </a:xfrm>
          <a:prstGeom prst="rect">
            <a:avLst/>
          </a:prstGeom>
          <a:solidFill>
            <a:srgbClr val="0A7E8C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2"/>
          <p:cNvSpPr/>
          <p:nvPr/>
        </p:nvSpPr>
        <p:spPr>
          <a:xfrm>
            <a:off x="3364992" y="4005072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Save to Collection (Mapper) (#SOW-40)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2"/>
          <p:cNvSpPr/>
          <p:nvPr/>
        </p:nvSpPr>
        <p:spPr>
          <a:xfrm>
            <a:off x="6126480" y="1005840"/>
            <a:ext cx="2743200" cy="320040"/>
          </a:xfrm>
          <a:prstGeom prst="rect">
            <a:avLst/>
          </a:prstGeom>
          <a:solidFill>
            <a:srgbClr val="64748B"/>
          </a:solidFill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2"/>
          <p:cNvSpPr/>
          <p:nvPr/>
        </p:nvSpPr>
        <p:spPr>
          <a:xfrm>
            <a:off x="6126480" y="10058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Stretch / Strategic (Jun–Jul)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2"/>
          <p:cNvSpPr/>
          <p:nvPr/>
        </p:nvSpPr>
        <p:spPr>
          <a:xfrm>
            <a:off x="6126480" y="1371600"/>
            <a:ext cx="2743200" cy="59436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2"/>
          <p:cNvSpPr/>
          <p:nvPr/>
        </p:nvSpPr>
        <p:spPr>
          <a:xfrm>
            <a:off x="6126480" y="1371600"/>
            <a:ext cx="91440" cy="594360"/>
          </a:xfrm>
          <a:prstGeom prst="rect">
            <a:avLst/>
          </a:prstGeom>
          <a:solidFill>
            <a:srgbClr val="64748B"/>
          </a:solidFill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2"/>
          <p:cNvSpPr/>
          <p:nvPr/>
        </p:nvSpPr>
        <p:spPr>
          <a:xfrm>
            <a:off x="6291072" y="1371600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MS#57: CIEL Bridge full showcase (Jun 11)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2"/>
          <p:cNvSpPr/>
          <p:nvPr/>
        </p:nvSpPr>
        <p:spPr>
          <a:xfrm>
            <a:off x="6126480" y="2029968"/>
            <a:ext cx="2743200" cy="59436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2"/>
          <p:cNvSpPr/>
          <p:nvPr/>
        </p:nvSpPr>
        <p:spPr>
          <a:xfrm>
            <a:off x="6126480" y="2029968"/>
            <a:ext cx="91440" cy="594360"/>
          </a:xfrm>
          <a:prstGeom prst="rect">
            <a:avLst/>
          </a:prstGeom>
          <a:solidFill>
            <a:srgbClr val="64748B"/>
          </a:solidFill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2"/>
          <p:cNvSpPr/>
          <p:nvPr/>
        </p:nvSpPr>
        <p:spPr>
          <a:xfrm>
            <a:off x="6291072" y="2029968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MS#58: Completed CIEL curation showcase (Jun 25)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2"/>
          <p:cNvSpPr/>
          <p:nvPr/>
        </p:nvSpPr>
        <p:spPr>
          <a:xfrm>
            <a:off x="6126480" y="2688336"/>
            <a:ext cx="2743200" cy="59436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2"/>
          <p:cNvSpPr/>
          <p:nvPr/>
        </p:nvSpPr>
        <p:spPr>
          <a:xfrm>
            <a:off x="6126480" y="2688336"/>
            <a:ext cx="91440" cy="594360"/>
          </a:xfrm>
          <a:prstGeom prst="rect">
            <a:avLst/>
          </a:prstGeom>
          <a:solidFill>
            <a:srgbClr val="64748B"/>
          </a:solidFill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2"/>
          <p:cNvSpPr/>
          <p:nvPr/>
        </p:nvSpPr>
        <p:spPr>
          <a:xfrm>
            <a:off x="6291072" y="2688336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Team-based Mapper workflows (scope to fit)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2"/>
          <p:cNvSpPr/>
          <p:nvPr/>
        </p:nvSpPr>
        <p:spPr>
          <a:xfrm>
            <a:off x="6126480" y="3346704"/>
            <a:ext cx="2743200" cy="59436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2"/>
          <p:cNvSpPr/>
          <p:nvPr/>
        </p:nvSpPr>
        <p:spPr>
          <a:xfrm>
            <a:off x="6126480" y="3346704"/>
            <a:ext cx="91440" cy="594360"/>
          </a:xfrm>
          <a:prstGeom prst="rect">
            <a:avLst/>
          </a:prstGeom>
          <a:solidFill>
            <a:srgbClr val="64748B"/>
          </a:solidFill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2"/>
          <p:cNvSpPr/>
          <p:nvPr/>
        </p:nvSpPr>
        <p:spPr>
          <a:xfrm>
            <a:off x="6291072" y="3346704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Mapper Public Showcase wrap-up — MS#47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2"/>
          <p:cNvSpPr/>
          <p:nvPr/>
        </p:nvSpPr>
        <p:spPr>
          <a:xfrm>
            <a:off x="6126480" y="4005072"/>
            <a:ext cx="2743200" cy="594360"/>
          </a:xfrm>
          <a:prstGeom prst="rect">
            <a:avLst/>
          </a:prstGeom>
          <a:solidFill>
            <a:srgbClr val="E8EDF2"/>
          </a:solidFill>
          <a:ln w="12700" cap="flat" cmpd="sng">
            <a:solidFill>
              <a:srgbClr val="E8E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2"/>
          <p:cNvSpPr/>
          <p:nvPr/>
        </p:nvSpPr>
        <p:spPr>
          <a:xfrm>
            <a:off x="6126480" y="4005072"/>
            <a:ext cx="91440" cy="594360"/>
          </a:xfrm>
          <a:prstGeom prst="rect">
            <a:avLst/>
          </a:prstGeom>
          <a:solidFill>
            <a:srgbClr val="64748B"/>
          </a:solidFill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2"/>
          <p:cNvSpPr/>
          <p:nvPr/>
        </p:nvSpPr>
        <p:spPr>
          <a:xfrm>
            <a:off x="6291072" y="4005072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Add mid-project Implementer showcase milestone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2"/>
          <p:cNvSpPr/>
          <p:nvPr/>
        </p:nvSpPr>
        <p:spPr>
          <a:xfrm>
            <a:off x="274320" y="4681728"/>
            <a:ext cx="8595360" cy="274320"/>
          </a:xfrm>
          <a:prstGeom prst="rect">
            <a:avLst/>
          </a:prstGeom>
          <a:solidFill>
            <a:srgbClr val="1B2B5E"/>
          </a:solidFill>
          <a:ln w="12700" cap="flat" cmpd="sng">
            <a:solidFill>
              <a:srgbClr val="1B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2"/>
          <p:cNvSpPr/>
          <p:nvPr/>
        </p:nvSpPr>
        <p:spPr>
          <a:xfrm>
            <a:off x="365760" y="46817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💬  Team: Do we reschedule the 5 overdue milestones, or formally descope them? Who owns each showcase?</a:t>
            </a:r>
            <a:endParaRPr sz="1100" strike="sng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B5E"/>
        </a:solidFill>
        <a:effectLst/>
      </p:bgPr>
    </p:bg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3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A7E8C"/>
          </a:solidFill>
          <a:ln w="12700" cap="flat" cmpd="sng">
            <a:solidFill>
              <a:srgbClr val="0A7E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3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2EC4B6"/>
          </a:solidFill>
          <a:ln w="127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3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en-US" sz="3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Good Progress. Busy Months Ahead.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3"/>
          <p:cNvSpPr/>
          <p:nvPr/>
        </p:nvSpPr>
        <p:spPr>
          <a:xfrm>
            <a:off x="914400" y="219456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600"/>
              <a:buFont typeface="Calibri"/>
              <a:buNone/>
            </a:pPr>
            <a:r>
              <a:rPr lang="en-US" sz="1600" i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3 milestones closed. 5 overdue and need triage.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600"/>
              <a:buFont typeface="Calibri"/>
              <a:buNone/>
            </a:pPr>
            <a:r>
              <a:rPr lang="en-US" sz="1600" i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13 weeks of execution left — let's align on the right priorities.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3"/>
          <p:cNvSpPr/>
          <p:nvPr/>
        </p:nvSpPr>
        <p:spPr>
          <a:xfrm>
            <a:off x="1828800" y="324612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4800"/>
              <a:buFont typeface="Calibri"/>
              <a:buNone/>
            </a:pPr>
            <a:r>
              <a:rPr lang="en-US" sz="48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3"/>
          <p:cNvSpPr/>
          <p:nvPr/>
        </p:nvSpPr>
        <p:spPr>
          <a:xfrm>
            <a:off x="1828800" y="393192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Milestones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closed ✅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3"/>
          <p:cNvSpPr/>
          <p:nvPr/>
        </p:nvSpPr>
        <p:spPr>
          <a:xfrm>
            <a:off x="4114800" y="324612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4800"/>
              <a:buFont typeface="Calibri"/>
              <a:buNone/>
            </a:pPr>
            <a:r>
              <a:rPr lang="en-US" sz="48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3"/>
          <p:cNvSpPr/>
          <p:nvPr/>
        </p:nvSpPr>
        <p:spPr>
          <a:xfrm>
            <a:off x="4114800" y="393192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Milestones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overdue ❌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3"/>
          <p:cNvSpPr/>
          <p:nvPr/>
        </p:nvSpPr>
        <p:spPr>
          <a:xfrm>
            <a:off x="6400800" y="324612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7E8C"/>
              </a:buClr>
              <a:buSzPts val="4800"/>
              <a:buFont typeface="Calibri"/>
              <a:buNone/>
            </a:pPr>
            <a:r>
              <a:rPr lang="en-US" sz="4800" b="1">
                <a:solidFill>
                  <a:srgbClr val="0A7E8C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3"/>
          <p:cNvSpPr/>
          <p:nvPr/>
        </p:nvSpPr>
        <p:spPr>
          <a:xfrm>
            <a:off x="6400800" y="393192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Weeks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remaining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3"/>
          <p:cNvSpPr/>
          <p:nvPr/>
        </p:nvSpPr>
        <p:spPr>
          <a:xfrm>
            <a:off x="1828800" y="466344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7E8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A7E8C"/>
                </a:solidFill>
                <a:latin typeface="Calibri"/>
                <a:ea typeface="Calibri"/>
                <a:cs typeface="Calibri"/>
                <a:sym typeface="Calibri"/>
              </a:rPr>
              <a:t>github.com/OpenConceptLab/ocl_issues/milestones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1910125-B190-463D-9EE2-1745B951C604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d0c7369a-6218-4e32-9b44-76fe3c993dd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2718</Words>
  <Application>Microsoft Office PowerPoint</Application>
  <PresentationFormat>On-screen Show (16:9)</PresentationFormat>
  <Paragraphs>468</Paragraphs>
  <Slides>13</Slides>
  <Notes>13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Amlung, Joseph Michael</cp:lastModifiedBy>
  <cp:revision>1</cp:revision>
  <dcterms:created xsi:type="dcterms:W3CDTF">2026-04-29T18:32:48Z</dcterms:created>
  <dcterms:modified xsi:type="dcterms:W3CDTF">2026-05-07T14:26:54Z</dcterms:modified>
</cp:coreProperties>
</file>