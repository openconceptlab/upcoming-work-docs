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71" r:id="rId5"/>
    <p:sldId id="276" r:id="rId6"/>
    <p:sldId id="277" r:id="rId7"/>
    <p:sldId id="278" r:id="rId8"/>
    <p:sldId id="282" r:id="rId9"/>
    <p:sldId id="284" r:id="rId10"/>
    <p:sldId id="289" r:id="rId11"/>
    <p:sldId id="266" r:id="rId12"/>
    <p:sldId id="291" r:id="rId13"/>
    <p:sldId id="288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deOKD8r9jl/Ms5eOLqdgLWYA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6B276E-F00D-4556-BE51-A25EFD849AE3}">
  <a:tblStyle styleId="{306B276E-F00D-4556-BE51-A25EFD849A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onceptLab/ocl_issues/milestone/5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penConceptLab/ocl_issues/milestone/57" TargetMode="External"/><Relationship Id="rId5" Type="http://schemas.openxmlformats.org/officeDocument/2006/relationships/hyperlink" Target="https://github.com/OpenConceptLab/ocl_issues/milestone/55" TargetMode="External"/><Relationship Id="rId4" Type="http://schemas.openxmlformats.org/officeDocument/2006/relationships/hyperlink" Target="https://github.com/OpenConceptLab/ocl_issues/milestone/5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onceptLab/ocl_issues/milestone/58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5E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CIEL-OCL 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132588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Midpoint Pulse Check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2560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Where we stand · What's shipping · What needs alignment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May 7, 2026  ·  OCL Team Review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583680" y="4251960"/>
            <a:ext cx="2103120" cy="54864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0" y="42519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13 of 26  ·  ~50%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What We Set Out to Do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i="1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6-month SOW · February – July 2026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74320" y="11430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74320" y="1143000"/>
            <a:ext cx="201168" cy="16002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383280" y="1188720"/>
            <a:ext cx="731520" cy="347472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383280" y="11887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2161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Bridge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6002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CIEL as bridge terminology to ICD-11, LOINC &amp; others.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Multi-algorithm matching + AI assistant integration.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0" y="11430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0" y="1143000"/>
            <a:ext cx="201168" cy="1600200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680960" y="1188720"/>
            <a:ext cx="731520" cy="347472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80960" y="11887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46320" y="12161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Source Management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46320" y="16002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CIEL managed in CIEL Lab v2 + OCL TBv3.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Release pipeline, QA workflows, CIEL Admin retirement.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29718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2971800"/>
            <a:ext cx="201168" cy="160020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83280" y="3017520"/>
            <a:ext cx="731520" cy="347472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83280" y="30175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30449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+ OpenMRS Implementers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34290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TBv3 collection management, concept proposals.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Mapper team-based workflows &amp; dictionary building.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0" y="29718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0" y="2971800"/>
            <a:ext cx="201168" cy="1600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680960" y="3017520"/>
            <a:ext cx="731520" cy="34747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680960" y="30175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46320" y="30449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Content Curation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46320" y="34290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QA review of ~15k remaining CIEL concepts.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Naming, mappings, AI-assisted curation workflows.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Milestone Tracker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milestone = a showcase demo that proves the capability is real and working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868680"/>
            <a:ext cx="164592" cy="16459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6692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✅  Closed / Complete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514600" y="868680"/>
            <a:ext cx="164592" cy="16459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71576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🔄  Open — In Progress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663440" y="868680"/>
            <a:ext cx="164592" cy="164592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86460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❌  Overdue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12280" y="868680"/>
            <a:ext cx="164592" cy="164592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01344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⬜  Upcoming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82880" y="1115568"/>
            <a:ext cx="2103120" cy="256032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8288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Bridge]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377440" y="1115568"/>
            <a:ext cx="2103120" cy="256032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37744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Source Mgmt]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0" y="1115568"/>
            <a:ext cx="2103120" cy="256032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Implementers]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766560" y="1115568"/>
            <a:ext cx="210312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76656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Content]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82880" y="1422576"/>
            <a:ext cx="2103120" cy="4990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46888" y="1468656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554480" y="144561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Feb 26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46888" y="156081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Technical Demo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E2E Workflow (#41)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46888" y="1798776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20/20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82880" y="1985584"/>
            <a:ext cx="2103120" cy="49900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46888" y="2031664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554480" y="200862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46888" y="21238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pre-pub dataset (#51)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46888" y="2361784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67% · 10c/5o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82880" y="2548592"/>
            <a:ext cx="2103120" cy="49900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46888" y="2594672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554480" y="2571632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46888" y="2686832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evaluation dataset (#59)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46888" y="2924792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33% · 2c/4o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82880" y="3111600"/>
            <a:ext cx="2103120" cy="49900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46888" y="3157680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554480" y="313464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28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46888" y="324984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country dataset (#55)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46888" y="348780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50% · 1c/1o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82880" y="4237616"/>
            <a:ext cx="2103120" cy="4990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46888" y="4283696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554480" y="426065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11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46888" y="43758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Bridge Showcase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all target repos (#57)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46888" y="4613816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issues yet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377440" y="1426464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441448" y="1481328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749040" y="145389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 5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441448" y="15910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Concept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Manager — Filipe (#48)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441448" y="187452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5/5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377440" y="2084832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441448" y="2139696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749040" y="211226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 19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441448" y="22494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Mock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E2E — Andy (#49)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441448" y="2532888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22/23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77440" y="2743200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441448" y="2798064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749040" y="2770632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2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441448" y="2907792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Source Mgmt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QA Workflows (#53)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441448" y="3191256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2/2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377440" y="3401568"/>
            <a:ext cx="2103120" cy="59436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441448" y="3456432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749040" y="34290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7 </a:t>
            </a: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441448" y="35661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Release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Filipe leads (#54)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441448" y="3849624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0c/8o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377440" y="4059936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441448" y="4114800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749040" y="4087368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11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441448" y="42245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Real-life CIEL Release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 CIEL Labs v2 (#56)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441448" y="4507992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issues yet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572000" y="1426464"/>
            <a:ext cx="2103120" cy="59436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636008" y="1481328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943600" y="145389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30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636008" y="15910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Collection &amp; Ref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Creation E2E (#42)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636008" y="187452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67% · 20c/10o – Overdue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572000" y="2084832"/>
            <a:ext cx="2103120" cy="59436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636008" y="2139696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943600" y="211226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15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636008" y="22494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Team-based Mapping &amp;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Left Panel (#43)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636008" y="2532888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13% · 1c/7o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572000" y="2743200"/>
            <a:ext cx="2103120" cy="59436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636008" y="2798064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943600" y="2770632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15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636008" y="2907792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Collection Maintenance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+ CIEL Release (#44)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636008" y="3191256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20% · 3c/12o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572000" y="3401568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636008" y="3456432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943600" y="34290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29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636008" y="35661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Proposals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E2E (#45)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636008" y="3849624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0c/4o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4572000" y="4059936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4636008" y="4114800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943600" y="4087368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4636008" y="42245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Mapping Decision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Memory (#46)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4636008" y="4507992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0c/3o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766560" y="1426464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830568" y="1481328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8138160" y="145389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9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830568" y="15910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Content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Technical Showcase (#52)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830568" y="187452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4/4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766560" y="2084832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830568" y="2139696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8138160" y="211226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25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830568" y="22494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Showcase Completed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Curation (#58)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830568" y="2532888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issues yet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82880" y="4794648"/>
            <a:ext cx="8778240" cy="292608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74320" y="479464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Summary:    ✅  5 closed    🔄  7 in progress 	  ⬜  6 upcoming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>
            <a:spLocks noGrp="1"/>
          </p:cNvSpPr>
          <p:nvPr/>
        </p:nvSpPr>
        <p:spPr>
          <a:xfrm>
            <a:off x="182880" y="3674608"/>
            <a:ext cx="2103120" cy="499000"/>
          </a:xfrm>
          <a:prstGeom prst="rect">
            <a:avLst/>
          </a:prstGeom>
          <a:solidFill>
            <a:srgbClr val="E8EDF2"/>
          </a:solidFill>
          <a:ln w="12700">
            <a:solidFill>
              <a:srgbClr val="CBD5E1"/>
            </a:solidFill>
          </a:ln>
        </p:spPr>
        <p:txBody>
          <a:bodyPr wrap="square" lIns="45720" tIns="45720" rIns="45720" bIns="45720" rtlCol="0"/>
          <a:lstStyle/>
          <a:p>
            <a:endParaRPr sz="8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03" name="Google Shape;203;p3"/>
          <p:cNvSpPr>
            <a:spLocks noGrp="1"/>
          </p:cNvSpPr>
          <p:nvPr/>
        </p:nvSpPr>
        <p:spPr>
          <a:xfrm>
            <a:off x="1554480" y="3697648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18</a:t>
            </a:r>
            <a:endParaRPr sz="7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04" name="Google Shape;204;p3"/>
          <p:cNvSpPr>
            <a:spLocks noGrp="1"/>
          </p:cNvSpPr>
          <p:nvPr/>
        </p:nvSpPr>
        <p:spPr>
          <a:xfrm>
            <a:off x="323850" y="3812848"/>
            <a:ext cx="189814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Mini-event: Research</a:t>
            </a:r>
            <a:endParaRPr sz="800" dirty="0">
              <a:solidFill>
                <a:srgbClr val="111827"/>
              </a:solidFill>
              <a:latin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Presentation to DBMI (#60)</a:t>
            </a:r>
            <a:endParaRPr sz="80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05" name="Google Shape;205;p3"/>
          <p:cNvSpPr>
            <a:spLocks noGrp="1"/>
          </p:cNvSpPr>
          <p:nvPr/>
        </p:nvSpPr>
        <p:spPr>
          <a:xfrm>
            <a:off x="323850" y="4049408"/>
            <a:ext cx="1898142" cy="138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issues yet</a:t>
            </a:r>
            <a:endParaRPr sz="70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C9FE5120-0450-136C-CE0E-2F2BE014E141}"/>
              </a:ext>
            </a:extLst>
          </p:cNvPr>
          <p:cNvSpPr/>
          <p:nvPr/>
        </p:nvSpPr>
        <p:spPr>
          <a:xfrm>
            <a:off x="246888" y="3698584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80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p4"/>
          <p:cNvGraphicFramePr/>
          <p:nvPr>
            <p:extLst>
              <p:ext uri="{D42A27DB-BD31-4B8C-83A1-F6EECF244321}">
                <p14:modId xmlns:p14="http://schemas.microsoft.com/office/powerpoint/2010/main" val="324618811"/>
              </p:ext>
            </p:extLst>
          </p:nvPr>
        </p:nvGraphicFramePr>
        <p:xfrm>
          <a:off x="1015637" y="287383"/>
          <a:ext cx="7112725" cy="4641189"/>
        </p:xfrm>
        <a:graphic>
          <a:graphicData uri="http://schemas.openxmlformats.org/drawingml/2006/table">
            <a:tbl>
              <a:tblPr>
                <a:noFill/>
                <a:tableStyleId>{306B276E-F00D-4556-BE51-A25EFD849AE3}</a:tableStyleId>
              </a:tblPr>
              <a:tblGrid>
                <a:gridCol w="3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#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Status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Bucket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Title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Due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Issues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Technical Demo E2E Workflow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100%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Feb 26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20/20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 (Overdue)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Collection &amp; Reference Creation E2E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67%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30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20c/10o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43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Team-based Mapping &amp; Left Panel E2E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13%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15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1c/7o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44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Collection Maintenance E2E (+ CIEL Release)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15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3c/12o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Concept Proposals E2E Workflow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29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0c/4o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Mapping Decision Memory Showcase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26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0c/3o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47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(Mapper)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Mapper Public Showcase — Wrap-up &amp; Release Prep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Jul 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0c/5o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Lab v2 Concept Manager — Filipe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100%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Mar 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5/5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Lab v2 Mock E2E — Andy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95%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Mar 19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22/23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E2E on pre-publication dataset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67%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7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10c/5o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Content]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Showcase CIEL Content E2E Technical Workflow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100%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4c/0o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53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Source Mgmt QA Workflows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100%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2c/0o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54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🔴 Overdue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Release E2E Workflow — Filipe leads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30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0c/8o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E2E evaluation on country dataset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28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1c/1o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Real-life CIEL Release using CIEL Labs v2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11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57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Bridge Showcase (all target repos)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11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0c/0o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Content]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Showcase Completed CIEL Content Curation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25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E2E on evaluation dataset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33%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7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2c/4o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60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Mini-event: Research Presentation to DBMI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18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0c/0o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3113460593"/>
                  </a:ext>
                </a:extLst>
              </a:tr>
            </a:tbl>
          </a:graphicData>
        </a:graphic>
      </p:graphicFrame>
      <p:sp>
        <p:nvSpPr>
          <p:cNvPr id="166" name="Google Shape;166;p4"/>
          <p:cNvSpPr/>
          <p:nvPr/>
        </p:nvSpPr>
        <p:spPr>
          <a:xfrm>
            <a:off x="1620519" y="4958874"/>
            <a:ext cx="5727977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#50 was closed/merged into #41 per the closed milestones list, so it’s omitted. Data refreshed from GitHub API, May 7, 2026. All ? values resolved.</a:t>
            </a:r>
            <a:endParaRPr dirty="0"/>
          </a:p>
        </p:txBody>
      </p:sp>
      <p:sp>
        <p:nvSpPr>
          <p:cNvPr id="167" name="Google Shape;167;p4"/>
          <p:cNvSpPr txBox="1"/>
          <p:nvPr/>
        </p:nvSpPr>
        <p:spPr>
          <a:xfrm>
            <a:off x="3870554" y="0"/>
            <a:ext cx="12279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Cheat Sheet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9920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1417320" y="1947669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SOW Timeline by Project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65760" y="5029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Feb–Jul 2026  ·  Milestones = ◆  ·  filled = complete or in progress  ·  ▲ = TODAY (May 7)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5"/>
          <p:cNvCxnSpPr/>
          <p:nvPr/>
        </p:nvCxnSpPr>
        <p:spPr>
          <a:xfrm>
            <a:off x="1417320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5"/>
          <p:cNvSpPr/>
          <p:nvPr/>
        </p:nvSpPr>
        <p:spPr>
          <a:xfrm>
            <a:off x="1234440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>
            <a:off x="2898648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5"/>
          <p:cNvSpPr/>
          <p:nvPr/>
        </p:nvSpPr>
        <p:spPr>
          <a:xfrm>
            <a:off x="2715768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4379976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5"/>
          <p:cNvSpPr/>
          <p:nvPr/>
        </p:nvSpPr>
        <p:spPr>
          <a:xfrm>
            <a:off x="4197096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>
            <a:off x="5861304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5"/>
          <p:cNvSpPr/>
          <p:nvPr/>
        </p:nvSpPr>
        <p:spPr>
          <a:xfrm>
            <a:off x="5678424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7342632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5"/>
          <p:cNvSpPr/>
          <p:nvPr/>
        </p:nvSpPr>
        <p:spPr>
          <a:xfrm>
            <a:off x="7159752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5"/>
          <p:cNvCxnSpPr/>
          <p:nvPr/>
        </p:nvCxnSpPr>
        <p:spPr>
          <a:xfrm>
            <a:off x="8823960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5"/>
          <p:cNvSpPr/>
          <p:nvPr/>
        </p:nvSpPr>
        <p:spPr>
          <a:xfrm>
            <a:off x="8641080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5"/>
          <p:cNvCxnSpPr/>
          <p:nvPr/>
        </p:nvCxnSpPr>
        <p:spPr>
          <a:xfrm>
            <a:off x="6202111" y="731520"/>
            <a:ext cx="0" cy="3977640"/>
          </a:xfrm>
          <a:prstGeom prst="straightConnector1">
            <a:avLst/>
          </a:prstGeom>
          <a:noFill/>
          <a:ln w="19050" cap="flat" cmpd="sng">
            <a:solidFill>
              <a:srgbClr val="DC2626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88" name="Google Shape;188;p5"/>
          <p:cNvSpPr/>
          <p:nvPr/>
        </p:nvSpPr>
        <p:spPr>
          <a:xfrm>
            <a:off x="5927791" y="5669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▲ TODAY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91440" y="1005840"/>
            <a:ext cx="1261872" cy="749808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91440" y="1005840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CIEL Bridge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(15%)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417320" y="1005840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417320" y="1078992"/>
            <a:ext cx="192572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417320" y="1078992"/>
            <a:ext cx="1925726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453896" y="1078992"/>
            <a:ext cx="187086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ICD-11 source &amp; post-coord pipeline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1417320" y="1220724"/>
            <a:ext cx="3703320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417320" y="1220724"/>
            <a:ext cx="2592324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453896" y="1220724"/>
            <a:ext cx="3648456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Multi-algo matching (reranker, bridge)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39312" y="1362456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639312" y="1362456"/>
            <a:ext cx="888797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675888" y="1362456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ICD-11 automatch + LLM-terminologist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379976" y="1504188"/>
            <a:ext cx="1777594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379976" y="1504188"/>
            <a:ext cx="711037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416552" y="1504188"/>
            <a:ext cx="172273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Evaluation + connectathon prep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601968" y="1645920"/>
            <a:ext cx="148132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638544" y="1645920"/>
            <a:ext cx="1516604" cy="9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Bridge showcase: ICD-11, LOINC, others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1440" y="1947669"/>
            <a:ext cx="1261872" cy="749808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1440" y="1947669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CIEL Source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Mgmt (30%)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417320" y="2020821"/>
            <a:ext cx="148132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417320" y="2020821"/>
            <a:ext cx="1481328" cy="118872"/>
          </a:xfrm>
          <a:prstGeom prst="rect">
            <a:avLst/>
          </a:prstGeom>
          <a:solidFill>
            <a:srgbClr val="F4B081">
              <a:alpha val="80000"/>
            </a:srgbClr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453896" y="2020821"/>
            <a:ext cx="14264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CIEL Lab v2 Concept Manager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2157984" y="2162553"/>
            <a:ext cx="2221992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2157984" y="2162553"/>
            <a:ext cx="1110996" cy="118872"/>
          </a:xfrm>
          <a:prstGeom prst="rect">
            <a:avLst/>
          </a:prstGeom>
          <a:solidFill>
            <a:srgbClr val="F4B081">
              <a:alpha val="80000"/>
            </a:srgbClr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2194560" y="2162553"/>
            <a:ext cx="216712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QA Workflows (validations, OpenMRS)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3639312" y="2304285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639312" y="2304285"/>
            <a:ext cx="592531" cy="118872"/>
          </a:xfrm>
          <a:prstGeom prst="rect">
            <a:avLst/>
          </a:prstGeom>
          <a:solidFill>
            <a:srgbClr val="F4B081">
              <a:alpha val="80000"/>
            </a:srgbClr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675888" y="2304285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CIEL Release pipeline in CIEL Lab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379976" y="2446017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416552" y="2446017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Changelog + admin retirement plan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601968" y="2587749"/>
            <a:ext cx="148132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638544" y="2587749"/>
            <a:ext cx="14264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Full live release via CIEL Lab v2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 rot="2700000">
            <a:off x="2807208" y="2560317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2697480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#48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 rot="2700000">
            <a:off x="3696005" y="2560317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3586277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#49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 rot="2700000">
            <a:off x="4288536" y="2560317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178808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#53✅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 rot="2700000">
            <a:off x="5725424" y="2560317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5615696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#54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 rot="2700000">
            <a:off x="7817206" y="2560318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707478" y="274319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#56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91440" y="2987468"/>
            <a:ext cx="1261872" cy="74980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91440" y="298746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(45%)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1417320" y="2987468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1417320" y="3060620"/>
            <a:ext cx="4399544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1417320" y="3060620"/>
            <a:ext cx="3079681" cy="118872"/>
          </a:xfrm>
          <a:prstGeom prst="rect">
            <a:avLst/>
          </a:prstGeom>
          <a:solidFill>
            <a:srgbClr val="8DA9DB">
              <a:alpha val="80000"/>
            </a:srgbClr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1453896" y="3060620"/>
            <a:ext cx="434468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TBv3 Collections + References (Versions tab, Add Refs, Preview)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1417320" y="3202352"/>
            <a:ext cx="518464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417320" y="3202352"/>
            <a:ext cx="2073859" cy="118872"/>
          </a:xfrm>
          <a:prstGeom prst="rect">
            <a:avLst/>
          </a:prstGeom>
          <a:solidFill>
            <a:srgbClr val="8DA9DB">
              <a:alpha val="80000"/>
            </a:srgbClr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1453896" y="3202352"/>
            <a:ext cx="51297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Mapper UX + Save to Collection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4379976" y="3344084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4416552" y="3344084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Concept Proposals (TBv3 + Mapper)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5120640" y="3485816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157216" y="3485816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Team-based mapping workflows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5861304" y="3627548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5897880" y="3627548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Mapping decision memory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 rot="2700000">
            <a:off x="7103059" y="3600116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6993331" y="3782996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#45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 rot="2700000">
            <a:off x="7695590" y="3600116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7585862" y="3782996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#43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#44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 rot="2700000">
            <a:off x="8480694" y="3600116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8370966" y="3782996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#46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91440" y="4040337"/>
            <a:ext cx="1261872" cy="7498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91440" y="4040337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Curation (10%)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417320" y="4040337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1417320" y="4113489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1417320" y="4113489"/>
            <a:ext cx="2962656" cy="11887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1453896" y="4113489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QA pipeline + CIEL Lab work queue setup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1417320" y="4255221"/>
            <a:ext cx="7406640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417320" y="4255221"/>
            <a:ext cx="1110996" cy="11887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1453896" y="4255221"/>
            <a:ext cx="7351776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~15k concept review (ongoing transversal)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3639312" y="4396953"/>
            <a:ext cx="3703320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3639312" y="4396953"/>
            <a:ext cx="740664" cy="11887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3675888" y="4396953"/>
            <a:ext cx="3648456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AI QA tools (typo, spelling, AI assistant)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7342632" y="4538685"/>
            <a:ext cx="1229502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7379207" y="4538685"/>
            <a:ext cx="1359875" cy="10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Showcase: completed curation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 rot="2700000">
            <a:off x="4732934" y="4652985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623206" y="4835865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#52✅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 rot="2700000">
            <a:off x="8480694" y="4652985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8370966" y="4835865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#58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 rot="2700000">
            <a:off x="7096841" y="1765447"/>
            <a:ext cx="182880" cy="1828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6987113" y="194832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#55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 rot="2700000">
            <a:off x="7862539" y="1772633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7752811" y="1955513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#57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 rot="2700000">
            <a:off x="2555382" y="1618488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2445654" y="180136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#41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 rot="2700000">
            <a:off x="4288536" y="1618488"/>
            <a:ext cx="182880" cy="1828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4169664" y="1780463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 dirty="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#51</a:t>
            </a:r>
            <a:endParaRPr sz="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 rot="2700000">
            <a:off x="6110569" y="1618488"/>
            <a:ext cx="182880" cy="1828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6000841" y="180136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#59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 rot="2700000">
            <a:off x="5725424" y="3678488"/>
            <a:ext cx="182880" cy="1828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5615696" y="386136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#42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>
            <a:spLocks noGrp="1"/>
          </p:cNvSpPr>
          <p:nvPr/>
        </p:nvSpPr>
        <p:spPr>
          <a:xfrm>
            <a:off x="6719217" y="1765848"/>
            <a:ext cx="177800" cy="177800"/>
          </a:xfrm>
          <a:prstGeom prst="diamond">
            <a:avLst/>
          </a:prstGeom>
          <a:solidFill>
            <a:srgbClr val="9CA3A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7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302" name="Google Shape;302;p5"/>
          <p:cNvSpPr>
            <a:spLocks noGrp="1"/>
          </p:cNvSpPr>
          <p:nvPr/>
        </p:nvSpPr>
        <p:spPr>
          <a:xfrm>
            <a:off x="6601967" y="1956348"/>
            <a:ext cx="40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#60</a:t>
            </a:r>
            <a:endParaRPr sz="700">
              <a:solidFill>
                <a:srgbClr val="11182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920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CIEL Bridge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15% of SOW  ·  Milestones: 1 ✅ done, 1 </a:t>
            </a:r>
            <a:r>
              <a:rPr lang="en-US" sz="11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r>
              <a:rPr lang="en-US" sz="1100" dirty="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 in progress, 1 ❌ overdue, 2 upcoming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COMPLETED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320040" y="12618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Technical Demo E2E — showcased Feb 12, closed 20/20 issues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320040" y="16276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ICD-11 post-coordination microservice (normalize + AI naming)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320040" y="19933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Custom bridge source generalized beyond CIEL (#2471)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320040" y="23591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Configurable reranker + sentence-transformers v5.4 upgrade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320040" y="33599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Enhanced Match Details panel (unified score, attributes)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320040" y="37256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Validation dataset preparation underway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OVERDUE (due Apr 2–16, ~0% complete)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617720" y="196779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MS#51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ICD11 E2E on pre-publication dataset (67% · 10c/5o)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4983480" y="2239171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Mapper info model refactor PR in review (Sunny) — nearly done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617720" y="269931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MS#59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ICD11 E2E on evaluation dataset (33% · 2c/4o)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983480" y="297363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Requires more ticket definition plus some Mapper fixes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617720" y="3404769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MS#55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Country dataset E2E — due May 28 (connectathon prep)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617721" y="4186581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MS#57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CIEL Bridge full showcase — due Jun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EF9C3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⚠️  ICD-11 Connectathon in Geneva is ~3 weeks away (week of May 28). New milestone to be created.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4983481" y="3692805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Requires more ticket definition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4617720" y="134200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Geneva!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983480" y="1601071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Milestone pending – will contain multiple overlapping initiatives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19990" y="4091422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Mapping architecture normalization underway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>
            <a:spLocks noGrp="1"/>
          </p:cNvSpPr>
          <p:nvPr/>
        </p:nvSpPr>
        <p:spPr>
          <a:xfrm>
            <a:off x="411420" y="277132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Multiple </a:t>
            </a:r>
            <a:r>
              <a:rPr lang="en-US" sz="1000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reranker</a:t>
            </a: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models now configurable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>
            <a:spLocks noGrp="1"/>
          </p:cNvSpPr>
          <p:nvPr/>
        </p:nvSpPr>
        <p:spPr>
          <a:xfrm>
            <a:off x="411420" y="308882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Prompt template selection (PR almost merged)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854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CIEL Source Management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30% of SOW  ·  Milestones: 3 ✅ done, 1 ❌ overdue, 1 upcoming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COMPLETED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320040" y="12618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MS#48 — CIEL Lab v2 Concept Manager (Filipe) — 5/5 ✅ Mar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320040" y="16276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MS#49 — CIEL Lab v2 Mock E2E (Andy) — 22/23 ✅ Mar 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320040" y="236045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releases continuing — v2026-04-28 just released 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320040" y="272621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Editor QA: names + mappings validation (#2405, #2408)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320040" y="309197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OpenMRS FSN duplicate validation bug fixed (#2406)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320040" y="345773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Export streaming crash fixed; API performance improvements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OVERDUE — Behind Schedule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320040" y="197510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MS#53 — CIEL Source Mgmt QA Workflows — 2/2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140234" y="1722011"/>
            <a:ext cx="354656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OpenMRS Validation Query, real-time schema, batch 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617720" y="14218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MS#54 — CIEL Release E2E (Filipe) — 0% · 0c/8o · Overdue (Apr 30)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617720" y="2197499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Release pipeline (#2474) — in progress, complex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4617720" y="2561953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Export formats analysis (#2475) + scripts (#2477, #2478) — open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617720" y="2927713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🚨  Staging pollution (#2490, #2491) — release QA unreliable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617720" y="3293473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🚨  CIEL Admin retirement plan — decision still pending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319978" y="377776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was used to push CIEL changes to Prod (mini win!)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274320" y="4617720"/>
            <a:ext cx="8595300" cy="347400"/>
          </a:xfrm>
          <a:prstGeom prst="rect">
            <a:avLst/>
          </a:prstGeom>
          <a:solidFill>
            <a:srgbClr val="FEF9C3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365760" y="461772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⚠️  Need to bring together the QA/detection of issues and the bulk-editing based on QA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7"/>
          <p:cNvSpPr>
            <a:spLocks noGrp="1"/>
          </p:cNvSpPr>
          <p:nvPr/>
        </p:nvSpPr>
        <p:spPr>
          <a:xfrm>
            <a:off x="414249" y="4197741"/>
            <a:ext cx="3840601" cy="32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Bulk import pre-sort performance fix — Filipe PR in progress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02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CIEL + OpenMRS Implementers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45% of SOW  - Requires more definition of requirements and designs for upcoming features!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TBv3 — TermBrowser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20040" y="1261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Versions + Expansions tab live (M42) (#1983)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320040" y="15727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Expansion CTAs: Create, Set Default, Delete, Rebuild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320040" y="18836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Cascade component — reusable (#2440)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320040" y="21945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Add Reference to Collection from outside (#2006)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320040" y="25054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Reference Consumer + Detail view (#1854, #2432)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320040" y="28163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Reference Preview CTA (#2007)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320040" y="31272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Add References within Collection (#2431)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320040" y="34381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API: Enhance references/preview/ endpoint (#2469)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320040" y="37490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Expansion selector on Concepts/Mappings (#2493)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320040" y="40599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Collection Maintenance MVP – Incepted but not fully documented 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320040" y="43708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Concept Proposals MVP — not started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OCL Mapper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617720" y="12573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Create project from existing (#2485)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4617720" y="14986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Dashboard row actions + kebab menu (#2486)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617720" y="17399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API throttling overlay (#2483)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617720" y="19812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Map project N+1 fix (5s → &lt;1s) (#2479)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617720" y="22225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Candidate pool persistence fixed (#2444)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617720" y="24638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Multi-algo score details panel (#2315)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617720" y="31877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'Save to Collection' feature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617720" y="36703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UX improvements for CIEL Early Access users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617720" y="39116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Mapping decision memory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617720" y="41529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Team-based mapping workflows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617720" y="4394200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Large project support &gt;1k rows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65809" y="4758436"/>
            <a:ext cx="9012382" cy="256032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160285" y="4758436"/>
            <a:ext cx="882062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⚠️  Lots of progress made, but we need to prepare for community use. Access/cost model needed before broader rollout — community contributor interest already received.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8"/>
          <p:cNvSpPr>
            <a:spLocks noGrp="1"/>
          </p:cNvSpPr>
          <p:nvPr/>
        </p:nvSpPr>
        <p:spPr>
          <a:xfrm>
            <a:off x="4709160" y="2727036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Bridge generic — runs against any mapped source (not just CIEL)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8"/>
          <p:cNvSpPr>
            <a:spLocks noGrp="1"/>
          </p:cNvSpPr>
          <p:nvPr/>
        </p:nvSpPr>
        <p:spPr>
          <a:xfrm>
            <a:off x="4709160" y="2968336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Multiple re-ranker models configurable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8"/>
          <p:cNvSpPr>
            <a:spLocks noGrp="1"/>
          </p:cNvSpPr>
          <p:nvPr/>
        </p:nvSpPr>
        <p:spPr>
          <a:xfrm>
            <a:off x="4709160" y="3472872"/>
            <a:ext cx="41148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Prompt template selection (PR almost merged)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648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CIEL Content Curation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 of SOW  ·  Milestones: 1 ✅ closed, 0 ❌ overdue, 1 upcoming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COMPLETED (features, not showcase)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20040" y="12618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QA work queue: layout, filters, progress view (#2412)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20040" y="16733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Casing triage migrated to CIEL Lab v2 (#2328) — ongoing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20040" y="208483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Translation tools with LM pre-translation (FR/PT)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20040" y="2496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Editor QA validations (#2405, #2408)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20040" y="29077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releases on schedule — v2026-04-28 released ✅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⏳  OPEN + UPCOMING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622800" y="12573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MS#58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Showcase Completed Curation — due Jun 25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5394960" y="1530604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Goal: all ~15k concepts through QA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617720" y="20701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~15,000 concepts still need manual review — ongoing transversal task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617720" y="2413000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AI QA: typo + US/UK spelling detection tools (#2404)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4617720" y="2717800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 dirty="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OCL AI Assistant reusable QA workflow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274320" y="4023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~15k concept QA progress: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274320" y="4315968"/>
            <a:ext cx="1031443" cy="2926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92608" y="43159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~10–15%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CIEL content curation is a never-ending effort. Trying to reign this in as a team and do the most important stuff.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617720" y="3022600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New naming issues identified for translations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9"/>
          <p:cNvSpPr>
            <a:spLocks noGrp="1"/>
          </p:cNvSpPr>
          <p:nvPr/>
        </p:nvSpPr>
        <p:spPr>
          <a:xfrm>
            <a:off x="320040" y="32639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MS#52 — Showcase CIEL Content E2E Workflow — ✅ CLOSED (4/4 issues)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3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Risks &amp; Decisions Needed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Items requiring team attention or decision before the next iteration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274320" y="1389888"/>
            <a:ext cx="8595360" cy="73152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274320" y="1389888"/>
            <a:ext cx="109728" cy="7315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57200" y="140817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🚨 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1325880" y="1426464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Staging environment is unreliable — automated imports have diverged it from production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57200" y="1728216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Duplicate retired mappings are causing import crashes, making it impossible to confidently validate CIEL releases in staging. Any milestone that requires a tested release is blocked until this is resolved.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274320" y="2185416"/>
            <a:ext cx="8595360" cy="73152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274320" y="2185416"/>
            <a:ext cx="109728" cy="7315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57200" y="220370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🚨 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1325880" y="222199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ICD-11 bridge pipeline is broken — connectathon in Geneva is three weeks away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57200" y="2523744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Bulk imports are silently dropping parent concept relationships, which breaks the ICD-11 bridge pipeline end-to-end. This must be resolved before the May Geneva </a:t>
            </a:r>
            <a:r>
              <a:rPr lang="en-US" sz="950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connectathon</a:t>
            </a: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or the showcase will not be viable.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274320" y="2980944"/>
            <a:ext cx="8595360" cy="73152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74320" y="2980944"/>
            <a:ext cx="109728" cy="7315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457200" y="299923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⚠️ MED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1325880" y="3017520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Admin tool has no owner and no retirement plan — quietly blocking a key milestone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57200" y="3319272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There is still no decision on whether to continue using Dropbox-based exports or migrate to a scripted process. Until ownership is established, the CIEL Release pipeline milestone cannot close.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274320" y="3776472"/>
            <a:ext cx="8595360" cy="73152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74320" y="3776472"/>
            <a:ext cx="109728" cy="7315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457200" y="37947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⚠️ MED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1325880" y="3813048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Several upcoming Implementer milestones are under-defined and at risk of slipping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57200" y="411480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milestones covering team-based mapping, collection maintenance, and concept proposals lack finalized requirements and designs. Two have now started and two are due mid-May — the team needs more bandwidth to shape this work before the deadlines arrive.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6630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5E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Indirect Wins &amp; Sneaky Goals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How we're making the most of limited time — and what we're learning along the way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84048" y="11430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🤖  AI-Powered Ticket Triage at Scale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84048" y="16002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Org-wide label taxonomy across 36 repos. 1,073 issues migrated. AI triage pipeline flags scope, risk &amp; spec quality — cutting planning overhead.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154680" y="10515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264408" y="11430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📚  Spec-First Development with ocl-kb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3264408" y="16002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KB-driven spec approach means developers move faster with less back-and-forth. Tickets link directly to KB specs — reducing PM time per ticket.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6035040" y="10515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144768" y="11430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🎨  OCL Design System v1 Shipped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6144768" y="16002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First public design system at openconceptlab.github.io/ocl-design-system. Speeds up TBv3 component decisions, reduces design review cycles.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274320" y="28803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84048" y="2971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🔬  AI-Assisted QA Workflows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384048" y="34290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LM-based typo detection, US/UK spelling tools, and AI pre-translation support in CIEL Lab. AI makes curation of 15k concepts tractable.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3154680" y="28803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3264408" y="2971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 dirty="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⚡  Performance Improvements Beyond SOW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3264408" y="34290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N+1 query fix (5s→&lt;1s mapper load), mapped-sources fix (38s→sub-second), ES indexing speedups. Users benefit immediately. (Shoutout Jon for lots of PRs!)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6035040" y="28803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6144768" y="2971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🏛️  Governance &amp; Community Infrastructure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6144768" y="34290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CONTRIBUTING.md, PR/release/ticket policies, 33-label taxonomy. Sets OCL up for sustainable community contribution beyond this project.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 dirty="0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What's Next — May through July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Priorities for the second half — organized around milestone delivery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279400" y="13716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279400" y="1371600"/>
            <a:ext cx="88900" cy="4699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279400" y="18415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279400" y="1841500"/>
            <a:ext cx="88900" cy="4699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279400" y="23114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279400" y="2311400"/>
            <a:ext cx="88900" cy="4699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279400" y="27813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279400" y="2781300"/>
            <a:ext cx="88900" cy="4699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279400" y="32512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279400" y="3251200"/>
            <a:ext cx="88900" cy="4699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200400" y="13716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200400" y="1371600"/>
            <a:ext cx="88900" cy="4699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3200400" y="18415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3200400" y="1841500"/>
            <a:ext cx="88900" cy="4699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3200400" y="23114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3200400" y="2311400"/>
            <a:ext cx="88900" cy="4699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3200400" y="27813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3200400" y="2781300"/>
            <a:ext cx="88900" cy="4699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3200400" y="32512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3200400" y="3251200"/>
            <a:ext cx="88900" cy="4699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6121400" y="13716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6121400" y="1371600"/>
            <a:ext cx="88900" cy="4699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6121400" y="18415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6121400" y="1841500"/>
            <a:ext cx="88900" cy="4699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121400" y="23114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6121400" y="2311400"/>
            <a:ext cx="88900" cy="4699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6121400" y="2781300"/>
            <a:ext cx="2743200" cy="4699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6121400" y="2781300"/>
            <a:ext cx="88900" cy="4699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card_bg_901"/>
          <p:cNvSpPr>
            <a:spLocks noGrp="1"/>
          </p:cNvSpPr>
          <p:nvPr/>
        </p:nvSpPr>
        <p:spPr>
          <a:xfrm>
            <a:off x="279400" y="3721100"/>
            <a:ext cx="2743200" cy="4699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card_acc_902"/>
          <p:cNvSpPr>
            <a:spLocks noGrp="1"/>
          </p:cNvSpPr>
          <p:nvPr/>
        </p:nvSpPr>
        <p:spPr>
          <a:xfrm>
            <a:off x="279400" y="3721100"/>
            <a:ext cx="88900" cy="4699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card_bg_903"/>
          <p:cNvSpPr>
            <a:spLocks noGrp="1"/>
          </p:cNvSpPr>
          <p:nvPr/>
        </p:nvSpPr>
        <p:spPr>
          <a:xfrm>
            <a:off x="279400" y="4191000"/>
            <a:ext cx="2743200" cy="4699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" name="card_acc_904"/>
          <p:cNvSpPr>
            <a:spLocks noGrp="1"/>
          </p:cNvSpPr>
          <p:nvPr/>
        </p:nvSpPr>
        <p:spPr>
          <a:xfrm>
            <a:off x="279400" y="4191000"/>
            <a:ext cx="88900" cy="4699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5" name="card_bg_905"/>
          <p:cNvSpPr>
            <a:spLocks noGrp="1"/>
          </p:cNvSpPr>
          <p:nvPr/>
        </p:nvSpPr>
        <p:spPr>
          <a:xfrm>
            <a:off x="3200400" y="3721100"/>
            <a:ext cx="2743200" cy="4699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6" name="card_acc_906"/>
          <p:cNvSpPr>
            <a:spLocks noGrp="1"/>
          </p:cNvSpPr>
          <p:nvPr/>
        </p:nvSpPr>
        <p:spPr>
          <a:xfrm>
            <a:off x="3200400" y="3721100"/>
            <a:ext cx="88900" cy="469900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7" name="card_bg_907"/>
          <p:cNvSpPr>
            <a:spLocks noGrp="1"/>
          </p:cNvSpPr>
          <p:nvPr/>
        </p:nvSpPr>
        <p:spPr>
          <a:xfrm>
            <a:off x="3200400" y="4191000"/>
            <a:ext cx="2743200" cy="4699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8" name="card_acc_908"/>
          <p:cNvSpPr>
            <a:spLocks noGrp="1"/>
          </p:cNvSpPr>
          <p:nvPr/>
        </p:nvSpPr>
        <p:spPr>
          <a:xfrm>
            <a:off x="3200400" y="4191000"/>
            <a:ext cx="88900" cy="469900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 (May)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Delivery (May–Jun)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Stretch / Strategic (Jun–Jul)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44500" y="13716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Fix ICD-11 hierarchy bug + staging env (#2462, #2490)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2"/>
          <p:cNvSpPr>
            <a:spLocks noGrp="1"/>
          </p:cNvSpPr>
          <p:nvPr/>
        </p:nvSpPr>
        <p:spPr>
          <a:xfrm>
            <a:off x="444500" y="18415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DBMI research presentation prep (MS#60 · May 18)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444500" y="23114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Deliver MS#51: ICD11 E2E pre-pub dataset showcase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444500" y="27813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WHO ICD-11 </a:t>
            </a:r>
            <a:r>
              <a:rPr lang="en-US" sz="1000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automatch</a:t>
            </a: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for Geneva </a:t>
            </a:r>
            <a:r>
              <a:rPr lang="en-US" sz="1000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connectathon</a:t>
            </a: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(May 25)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44500" y="32512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Agree on CIEL Admin retirement plan (unblocks MS#54)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44500" y="37211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Bulk Import Performance Improvements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2"/>
          <p:cNvSpPr>
            <a:spLocks noGrp="1"/>
          </p:cNvSpPr>
          <p:nvPr/>
        </p:nvSpPr>
        <p:spPr>
          <a:xfrm>
            <a:off x="444500" y="41910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Merge mapper information model refactor (Sunny review → May 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365500" y="13716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MS#55: ICD11 E2E on country dataset (May 28)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3365500" y="18415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release pipeline (#2474) → MS#56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3365500" y="23114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Add References within Collection (#2431)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3365500" y="27813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Proposals MVP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3365500" y="32512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Save to Collection (Mapper)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2"/>
          <p:cNvSpPr>
            <a:spLocks noGrp="1"/>
          </p:cNvSpPr>
          <p:nvPr/>
        </p:nvSpPr>
        <p:spPr>
          <a:xfrm>
            <a:off x="3365500" y="37211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MS#43: Team-based Mapping &amp; Left Panel (May 15)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2"/>
          <p:cNvSpPr>
            <a:spLocks noGrp="1"/>
          </p:cNvSpPr>
          <p:nvPr/>
        </p:nvSpPr>
        <p:spPr>
          <a:xfrm>
            <a:off x="3365500" y="41910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MS#44: Collection Maintenance E2E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(May 15)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6286500" y="13716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MS#57: CIEL Bridge full showcase (Jun 11)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6286500" y="18415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MS#58: Completed CIEL curation showcase (Jun 25)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6286500" y="23114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Team-based Mapper workflows (scope to fit)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6286500" y="2781300"/>
            <a:ext cx="25146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Mapper Public Showcase wrap-up — MS#47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720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5E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 Progress. Busy Months Ahead.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914400" y="21945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5 milestones closed. 1 overdue. 2 due today.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13 weeks of execution left — let's align on the right priorities.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1828800" y="3246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1828800" y="3931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closed 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4114800" y="3246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4114800" y="3931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Milestone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overdue 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6400800" y="3246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7E8C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0A7E8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6400800" y="3931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Weeks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remaining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1828800" y="466344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7E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A7E8C"/>
                </a:solidFill>
                <a:latin typeface="Calibri"/>
                <a:ea typeface="Calibri"/>
                <a:cs typeface="Calibri"/>
                <a:sym typeface="Calibri"/>
              </a:rPr>
              <a:t>github.com/OpenConceptLab/ocl_issues/milestones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8192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DD9B15-73D6-46F2-B67F-38638572546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00fa541-d116-49cc-a5da-e2db7c33e40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2781</Words>
  <Application>Microsoft Office PowerPoint</Application>
  <PresentationFormat>On-screen Show (16:9)</PresentationFormat>
  <Paragraphs>477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Amlung, Joseph Michael</cp:lastModifiedBy>
  <cp:revision>4</cp:revision>
  <dcterms:created xsi:type="dcterms:W3CDTF">2026-04-29T18:32:48Z</dcterms:created>
  <dcterms:modified xsi:type="dcterms:W3CDTF">2026-05-07T19:28:33Z</dcterms:modified>
</cp:coreProperties>
</file>